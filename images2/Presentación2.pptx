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8" r:id="rId3"/>
    <p:sldId id="256" r:id="rId4"/>
    <p:sldId id="276" r:id="rId5"/>
    <p:sldId id="265" r:id="rId6"/>
    <p:sldId id="264" r:id="rId7"/>
    <p:sldId id="266" r:id="rId8"/>
    <p:sldId id="271" r:id="rId9"/>
    <p:sldId id="272" r:id="rId10"/>
    <p:sldId id="273" r:id="rId11"/>
    <p:sldId id="274" r:id="rId12"/>
    <p:sldId id="267" r:id="rId13"/>
    <p:sldId id="268" r:id="rId14"/>
    <p:sldId id="270" r:id="rId15"/>
    <p:sldId id="269" r:id="rId16"/>
    <p:sldId id="261" r:id="rId17"/>
    <p:sldId id="257" r:id="rId18"/>
    <p:sldId id="258" r:id="rId19"/>
    <p:sldId id="259" r:id="rId20"/>
    <p:sldId id="262" r:id="rId21"/>
    <p:sldId id="260" r:id="rId22"/>
    <p:sldId id="263" r:id="rId23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93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012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525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3893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6018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9355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415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5039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4316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414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3124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7045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7271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suarios.ull.es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usuarios.ull.es/vpn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fortinet.com/lat/support/product-downloads#vpn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acceso.ull.es/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4948C-ED2B-5701-D82E-D9BDCA586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blob:https://web.whatsapp.com/dff592c5-2813-406e-bf29-d0e9afb4b374">
            <a:extLst>
              <a:ext uri="{FF2B5EF4-FFF2-40B4-BE49-F238E27FC236}">
                <a16:creationId xmlns:a16="http://schemas.microsoft.com/office/drawing/2014/main" id="{18E328BC-4F06-0F63-E63E-C59E6EAD65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DA6973A-EA07-07D0-EB7F-C0F29348DB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67" y="360438"/>
            <a:ext cx="3841849" cy="288138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FA54020-A999-54AA-010A-1C7CA58DC4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735" y="3339840"/>
            <a:ext cx="4211960" cy="3158970"/>
          </a:xfrm>
          <a:prstGeom prst="rect">
            <a:avLst/>
          </a:prstGeom>
        </p:spPr>
      </p:pic>
      <p:sp>
        <p:nvSpPr>
          <p:cNvPr id="11" name="Flecha: curvada hacia la derecha 10">
            <a:extLst>
              <a:ext uri="{FF2B5EF4-FFF2-40B4-BE49-F238E27FC236}">
                <a16:creationId xmlns:a16="http://schemas.microsoft.com/office/drawing/2014/main" id="{0595DFBC-4D54-0164-9DA4-487BD6CBB463}"/>
              </a:ext>
            </a:extLst>
          </p:cNvPr>
          <p:cNvSpPr/>
          <p:nvPr/>
        </p:nvSpPr>
        <p:spPr>
          <a:xfrm rot="19522535">
            <a:off x="3920634" y="3327567"/>
            <a:ext cx="432048" cy="1344414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" name="12 CuadroTexto">
            <a:extLst>
              <a:ext uri="{FF2B5EF4-FFF2-40B4-BE49-F238E27FC236}">
                <a16:creationId xmlns:a16="http://schemas.microsoft.com/office/drawing/2014/main" id="{30517088-F266-E72E-17A0-424DE533866F}"/>
              </a:ext>
            </a:extLst>
          </p:cNvPr>
          <p:cNvSpPr txBox="1"/>
          <p:nvPr/>
        </p:nvSpPr>
        <p:spPr>
          <a:xfrm>
            <a:off x="155575" y="4336312"/>
            <a:ext cx="44164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En los ordenadores de cualquier aula de informática de la ULL, se debe iniciar sesión utilizando el usuario de ULL y la contraseña Microsoft asociada a la cuenta</a:t>
            </a:r>
            <a:endParaRPr lang="es-ES" b="1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2457948-B03F-9353-9C68-94EC3EA16901}"/>
              </a:ext>
            </a:extLst>
          </p:cNvPr>
          <p:cNvSpPr txBox="1"/>
          <p:nvPr/>
        </p:nvSpPr>
        <p:spPr>
          <a:xfrm>
            <a:off x="155575" y="5550329"/>
            <a:ext cx="47764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FF0000"/>
                </a:solidFill>
              </a:rPr>
              <a:t>Nombre de usuario: </a:t>
            </a:r>
            <a:r>
              <a:rPr lang="es-ES" sz="1800" dirty="0">
                <a:solidFill>
                  <a:srgbClr val="0070C0"/>
                </a:solidFill>
              </a:rPr>
              <a:t>aluXXXXXXXX@ull.edu.es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FF0000"/>
                </a:solidFill>
              </a:rPr>
              <a:t>Contraseña: </a:t>
            </a:r>
            <a:r>
              <a:rPr lang="es-ES" sz="1800" dirty="0">
                <a:solidFill>
                  <a:srgbClr val="0070C0"/>
                </a:solidFill>
              </a:rPr>
              <a:t>**********</a:t>
            </a:r>
          </a:p>
        </p:txBody>
      </p:sp>
    </p:spTree>
    <p:extLst>
      <p:ext uri="{BB962C8B-B14F-4D97-AF65-F5344CB8AC3E}">
        <p14:creationId xmlns:p14="http://schemas.microsoft.com/office/powerpoint/2010/main" val="426036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64076-280F-9953-3712-47A730000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blob:https://web.whatsapp.com/dff592c5-2813-406e-bf29-d0e9afb4b374">
            <a:extLst>
              <a:ext uri="{FF2B5EF4-FFF2-40B4-BE49-F238E27FC236}">
                <a16:creationId xmlns:a16="http://schemas.microsoft.com/office/drawing/2014/main" id="{3CDD0B74-A3AA-FF11-68A3-C2325A26E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1" name="Flecha: curvada hacia la derecha 10">
            <a:extLst>
              <a:ext uri="{FF2B5EF4-FFF2-40B4-BE49-F238E27FC236}">
                <a16:creationId xmlns:a16="http://schemas.microsoft.com/office/drawing/2014/main" id="{C3092B08-7E3E-DE66-D772-52540DFFB8FD}"/>
              </a:ext>
            </a:extLst>
          </p:cNvPr>
          <p:cNvSpPr/>
          <p:nvPr/>
        </p:nvSpPr>
        <p:spPr>
          <a:xfrm rot="20615537">
            <a:off x="969143" y="2962541"/>
            <a:ext cx="432048" cy="1864135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5C4556-9233-AFB1-1513-7E6849FC3D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963"/>
          <a:stretch>
            <a:fillRect/>
          </a:stretch>
        </p:blipFill>
        <p:spPr>
          <a:xfrm>
            <a:off x="307975" y="160338"/>
            <a:ext cx="4581389" cy="2692598"/>
          </a:xfrm>
          <a:prstGeom prst="rect">
            <a:avLst/>
          </a:prstGeom>
        </p:spPr>
      </p:pic>
      <p:sp>
        <p:nvSpPr>
          <p:cNvPr id="16" name="12 CuadroTexto">
            <a:extLst>
              <a:ext uri="{FF2B5EF4-FFF2-40B4-BE49-F238E27FC236}">
                <a16:creationId xmlns:a16="http://schemas.microsoft.com/office/drawing/2014/main" id="{6856409F-AC0F-155D-53B7-69ADD3B67B0F}"/>
              </a:ext>
            </a:extLst>
          </p:cNvPr>
          <p:cNvSpPr txBox="1"/>
          <p:nvPr/>
        </p:nvSpPr>
        <p:spPr>
          <a:xfrm>
            <a:off x="4860032" y="476672"/>
            <a:ext cx="441642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Si no recuerda la contraseña, se debe ir a la página </a:t>
            </a:r>
            <a:r>
              <a:rPr lang="es-ES" dirty="0">
                <a:hlinkClick r:id="rId3"/>
              </a:rPr>
              <a:t>https://usuarios.ull.es/</a:t>
            </a:r>
            <a:endParaRPr lang="es-ES" dirty="0"/>
          </a:p>
          <a:p>
            <a:endParaRPr lang="es-ES" dirty="0"/>
          </a:p>
          <a:p>
            <a:r>
              <a:rPr lang="es-ES" dirty="0"/>
              <a:t>Si la contraseña olvidada es la del aula virtual, entonces hay que hacer click en </a:t>
            </a:r>
            <a:r>
              <a:rPr lang="es-ES" dirty="0">
                <a:solidFill>
                  <a:srgbClr val="0070C0"/>
                </a:solidFill>
              </a:rPr>
              <a:t>Recordar contraseña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Si la contraseña olvidada es la de Google o Microsoft, entonces iniciar sesión utilizando la contraseña de aula virtual y entonces hacer click en: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70C0"/>
                </a:solidFill>
              </a:rPr>
              <a:t>Recuperación de contraseña Microsoft </a:t>
            </a:r>
            <a:r>
              <a:rPr lang="es-ES" dirty="0"/>
              <a:t>(necesaria para entrar a un ordenador de aula)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70C0"/>
                </a:solidFill>
              </a:rPr>
              <a:t>Cambio de contraseña de Google </a:t>
            </a:r>
            <a:r>
              <a:rPr lang="es-ES" dirty="0"/>
              <a:t>(necesaria para acceder a los servicios de Google Mail, Google Drive, </a:t>
            </a:r>
            <a:r>
              <a:rPr lang="es-ES" dirty="0" err="1"/>
              <a:t>etc</a:t>
            </a:r>
            <a:r>
              <a:rPr lang="es-ES" dirty="0"/>
              <a:t>…)</a:t>
            </a:r>
          </a:p>
          <a:p>
            <a:endParaRPr lang="es-ES" b="1" dirty="0"/>
          </a:p>
          <a:p>
            <a:r>
              <a:rPr lang="es-ES" b="1" dirty="0"/>
              <a:t>RECOMENDACIÓN: Se recomienda utilizar la misma contraseña de la ULL tanto para Google como Microsoft</a:t>
            </a:r>
          </a:p>
          <a:p>
            <a:endParaRPr lang="es-ES" b="1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B388EAF-60AC-68FF-D85C-F74EA4381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80" y="2908622"/>
            <a:ext cx="2342572" cy="378904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A3831579-AA52-8095-04AF-C7377A327191}"/>
              </a:ext>
            </a:extLst>
          </p:cNvPr>
          <p:cNvSpPr/>
          <p:nvPr/>
        </p:nvSpPr>
        <p:spPr>
          <a:xfrm>
            <a:off x="1763688" y="3573016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2 Elipse">
            <a:extLst>
              <a:ext uri="{FF2B5EF4-FFF2-40B4-BE49-F238E27FC236}">
                <a16:creationId xmlns:a16="http://schemas.microsoft.com/office/drawing/2014/main" id="{889710DE-AEFB-3C61-EB5F-7B828DA0091C}"/>
              </a:ext>
            </a:extLst>
          </p:cNvPr>
          <p:cNvSpPr/>
          <p:nvPr/>
        </p:nvSpPr>
        <p:spPr>
          <a:xfrm>
            <a:off x="714658" y="116632"/>
            <a:ext cx="1337062" cy="3048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5" name="3 Conector recto de flecha">
            <a:extLst>
              <a:ext uri="{FF2B5EF4-FFF2-40B4-BE49-F238E27FC236}">
                <a16:creationId xmlns:a16="http://schemas.microsoft.com/office/drawing/2014/main" id="{03B3F648-CAB8-0166-4DC3-4BE51347CAAE}"/>
              </a:ext>
            </a:extLst>
          </p:cNvPr>
          <p:cNvCxnSpPr>
            <a:cxnSpLocks/>
          </p:cNvCxnSpPr>
          <p:nvPr/>
        </p:nvCxnSpPr>
        <p:spPr>
          <a:xfrm flipH="1" flipV="1">
            <a:off x="2123728" y="260648"/>
            <a:ext cx="2880320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000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blob:https://web.whatsapp.com/dff592c5-2813-406e-bf29-d0e9afb4b37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204864"/>
            <a:ext cx="539115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2555776" y="2852936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******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3275856" y="298766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******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3779912" y="3151772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******</a:t>
            </a:r>
          </a:p>
        </p:txBody>
      </p:sp>
      <p:cxnSp>
        <p:nvCxnSpPr>
          <p:cNvPr id="12" name="11 Conector recto de flecha"/>
          <p:cNvCxnSpPr>
            <a:stCxn id="13" idx="1"/>
          </p:cNvCxnSpPr>
          <p:nvPr/>
        </p:nvCxnSpPr>
        <p:spPr>
          <a:xfrm flipH="1">
            <a:off x="3379145" y="2483604"/>
            <a:ext cx="1060526" cy="5023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CuadroTexto"/>
          <p:cNvSpPr txBox="1"/>
          <p:nvPr/>
        </p:nvSpPr>
        <p:spPr>
          <a:xfrm>
            <a:off x="4439671" y="2298938"/>
            <a:ext cx="4115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Poner la contraseña actual, es decir, </a:t>
            </a:r>
            <a:r>
              <a:rPr lang="es-ES" b="1" dirty="0"/>
              <a:t>estad</a:t>
            </a:r>
          </a:p>
        </p:txBody>
      </p:sp>
      <p:sp>
        <p:nvSpPr>
          <p:cNvPr id="15" name="14 CuadroTexto"/>
          <p:cNvSpPr txBox="1"/>
          <p:nvPr/>
        </p:nvSpPr>
        <p:spPr>
          <a:xfrm>
            <a:off x="5168160" y="2774456"/>
            <a:ext cx="3948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Poner la nueva contraseña que se desee</a:t>
            </a:r>
          </a:p>
        </p:txBody>
      </p:sp>
      <p:cxnSp>
        <p:nvCxnSpPr>
          <p:cNvPr id="17" name="16 Conector recto de flecha"/>
          <p:cNvCxnSpPr>
            <a:stCxn id="15" idx="1"/>
          </p:cNvCxnSpPr>
          <p:nvPr/>
        </p:nvCxnSpPr>
        <p:spPr>
          <a:xfrm flipH="1">
            <a:off x="4067945" y="2959122"/>
            <a:ext cx="1100215" cy="1449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5168160" y="3243120"/>
            <a:ext cx="2796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Repetir la nueva contraseña</a:t>
            </a:r>
          </a:p>
        </p:txBody>
      </p:sp>
      <p:cxnSp>
        <p:nvCxnSpPr>
          <p:cNvPr id="20" name="19 Conector recto de flecha"/>
          <p:cNvCxnSpPr/>
          <p:nvPr/>
        </p:nvCxnSpPr>
        <p:spPr>
          <a:xfrm flipH="1" flipV="1">
            <a:off x="4623883" y="3295395"/>
            <a:ext cx="595094" cy="1336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328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40" y="2168316"/>
            <a:ext cx="79248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AutoShape 2" descr="blob:https://web.whatsapp.com/dff592c5-2813-406e-bf29-d0e9afb4b37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5 CuadroTexto"/>
          <p:cNvSpPr txBox="1"/>
          <p:nvPr/>
        </p:nvSpPr>
        <p:spPr>
          <a:xfrm>
            <a:off x="2555776" y="2852936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******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3275856" y="298766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******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3779912" y="3151772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******</a:t>
            </a:r>
          </a:p>
        </p:txBody>
      </p:sp>
      <p:cxnSp>
        <p:nvCxnSpPr>
          <p:cNvPr id="12" name="11 Conector recto de flecha"/>
          <p:cNvCxnSpPr>
            <a:stCxn id="13" idx="1"/>
          </p:cNvCxnSpPr>
          <p:nvPr/>
        </p:nvCxnSpPr>
        <p:spPr>
          <a:xfrm flipH="1">
            <a:off x="3379145" y="2483604"/>
            <a:ext cx="1060526" cy="5023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CuadroTexto"/>
          <p:cNvSpPr txBox="1"/>
          <p:nvPr/>
        </p:nvSpPr>
        <p:spPr>
          <a:xfrm>
            <a:off x="4439671" y="2298938"/>
            <a:ext cx="4509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Poner la contraseña actual, es decir, </a:t>
            </a:r>
            <a:r>
              <a:rPr lang="es-ES" b="1" dirty="0"/>
              <a:t>infer2026</a:t>
            </a:r>
          </a:p>
        </p:txBody>
      </p:sp>
      <p:sp>
        <p:nvSpPr>
          <p:cNvPr id="15" name="14 CuadroTexto"/>
          <p:cNvSpPr txBox="1"/>
          <p:nvPr/>
        </p:nvSpPr>
        <p:spPr>
          <a:xfrm>
            <a:off x="5168160" y="2774456"/>
            <a:ext cx="3948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Poner la nueva contraseña que se desee</a:t>
            </a:r>
          </a:p>
        </p:txBody>
      </p:sp>
      <p:cxnSp>
        <p:nvCxnSpPr>
          <p:cNvPr id="17" name="16 Conector recto de flecha"/>
          <p:cNvCxnSpPr>
            <a:stCxn id="15" idx="1"/>
          </p:cNvCxnSpPr>
          <p:nvPr/>
        </p:nvCxnSpPr>
        <p:spPr>
          <a:xfrm flipH="1">
            <a:off x="4067945" y="2959122"/>
            <a:ext cx="1100215" cy="1449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5168160" y="3243120"/>
            <a:ext cx="2796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Repetir la nueva contraseña</a:t>
            </a:r>
          </a:p>
        </p:txBody>
      </p:sp>
      <p:cxnSp>
        <p:nvCxnSpPr>
          <p:cNvPr id="20" name="19 Conector recto de flecha"/>
          <p:cNvCxnSpPr/>
          <p:nvPr/>
        </p:nvCxnSpPr>
        <p:spPr>
          <a:xfrm flipH="1" flipV="1">
            <a:off x="4623883" y="3295395"/>
            <a:ext cx="595094" cy="1336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335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AA2F8525-1FA1-DCB2-D8D1-A2C677398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16" y="66368"/>
            <a:ext cx="8573696" cy="5839640"/>
          </a:xfrm>
          <a:prstGeom prst="rect">
            <a:avLst/>
          </a:prstGeom>
        </p:spPr>
      </p:pic>
      <p:sp>
        <p:nvSpPr>
          <p:cNvPr id="3" name="2 Elipse"/>
          <p:cNvSpPr/>
          <p:nvPr/>
        </p:nvSpPr>
        <p:spPr>
          <a:xfrm>
            <a:off x="1259632" y="44624"/>
            <a:ext cx="2520280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CuadroTexto"/>
          <p:cNvSpPr txBox="1"/>
          <p:nvPr/>
        </p:nvSpPr>
        <p:spPr>
          <a:xfrm>
            <a:off x="5148064" y="2564904"/>
            <a:ext cx="38164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FF0000"/>
                </a:solidFill>
              </a:rPr>
              <a:t>Abrir un navegador web y acceder a la dirección </a:t>
            </a:r>
            <a:r>
              <a:rPr lang="es-ES" dirty="0">
                <a:solidFill>
                  <a:srgbClr val="FF0000"/>
                </a:solidFill>
                <a:hlinkClick r:id="rId3"/>
              </a:rPr>
              <a:t>http://usuarios.ull.es/vpn</a:t>
            </a:r>
            <a:r>
              <a:rPr lang="es-ES" dirty="0">
                <a:solidFill>
                  <a:srgbClr val="FF0000"/>
                </a:solidFill>
              </a:rPr>
              <a:t>. Hacer click en </a:t>
            </a:r>
            <a:r>
              <a:rPr lang="es-ES" dirty="0"/>
              <a:t>Servicio de VPN de la ULL</a:t>
            </a:r>
          </a:p>
        </p:txBody>
      </p:sp>
      <p:cxnSp>
        <p:nvCxnSpPr>
          <p:cNvPr id="4" name="3 Conector recto de flecha"/>
          <p:cNvCxnSpPr>
            <a:cxnSpLocks/>
          </p:cNvCxnSpPr>
          <p:nvPr/>
        </p:nvCxnSpPr>
        <p:spPr>
          <a:xfrm flipH="1" flipV="1">
            <a:off x="1979713" y="312336"/>
            <a:ext cx="3096343" cy="26738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 de flecha"/>
          <p:cNvCxnSpPr>
            <a:cxnSpLocks/>
          </p:cNvCxnSpPr>
          <p:nvPr/>
        </p:nvCxnSpPr>
        <p:spPr>
          <a:xfrm flipH="1">
            <a:off x="4609471" y="3356992"/>
            <a:ext cx="538593" cy="534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Elipse"/>
          <p:cNvSpPr/>
          <p:nvPr/>
        </p:nvSpPr>
        <p:spPr>
          <a:xfrm>
            <a:off x="1535096" y="3645024"/>
            <a:ext cx="3024336" cy="5227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6353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BA77D64-6DB5-3DFC-E9EE-D2C2BD3E0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77" y="44624"/>
            <a:ext cx="8014046" cy="6858000"/>
          </a:xfrm>
          <a:prstGeom prst="rect">
            <a:avLst/>
          </a:prstGeom>
        </p:spPr>
      </p:pic>
      <p:sp>
        <p:nvSpPr>
          <p:cNvPr id="5" name="4 CuadroTexto"/>
          <p:cNvSpPr txBox="1"/>
          <p:nvPr/>
        </p:nvSpPr>
        <p:spPr>
          <a:xfrm>
            <a:off x="683568" y="4365104"/>
            <a:ext cx="30243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FF0000"/>
                </a:solidFill>
              </a:rPr>
              <a:t>Seguir las instrucciones de las Guías de configuración para instalar el cliente VPN que permite hacer una conexión a ULL</a:t>
            </a:r>
          </a:p>
        </p:txBody>
      </p:sp>
      <p:cxnSp>
        <p:nvCxnSpPr>
          <p:cNvPr id="4" name="8 Conector recto de flecha">
            <a:extLst>
              <a:ext uri="{FF2B5EF4-FFF2-40B4-BE49-F238E27FC236}">
                <a16:creationId xmlns:a16="http://schemas.microsoft.com/office/drawing/2014/main" id="{C5A8D315-BC81-1478-3B74-533149955BD9}"/>
              </a:ext>
            </a:extLst>
          </p:cNvPr>
          <p:cNvCxnSpPr>
            <a:cxnSpLocks/>
          </p:cNvCxnSpPr>
          <p:nvPr/>
        </p:nvCxnSpPr>
        <p:spPr>
          <a:xfrm>
            <a:off x="1907704" y="5661248"/>
            <a:ext cx="2088232" cy="11521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072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282976" y="2060848"/>
            <a:ext cx="36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FF0000"/>
                </a:solidFill>
              </a:rPr>
              <a:t>Por ejemplo, para ordenadores con Windows 10 en adelante, ir a las instrucciones del anexo para  Windows 11. 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90ACF90-BCB8-7DA8-576E-EC3A7EA6C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30324"/>
            <a:ext cx="3024336" cy="3045185"/>
          </a:xfrm>
          <a:prstGeom prst="rect">
            <a:avLst/>
          </a:prstGeom>
        </p:spPr>
      </p:pic>
      <p:sp>
        <p:nvSpPr>
          <p:cNvPr id="14" name="4 CuadroTexto">
            <a:extLst>
              <a:ext uri="{FF2B5EF4-FFF2-40B4-BE49-F238E27FC236}">
                <a16:creationId xmlns:a16="http://schemas.microsoft.com/office/drawing/2014/main" id="{70159B29-E22D-50A3-6F13-026249AEFEA1}"/>
              </a:ext>
            </a:extLst>
          </p:cNvPr>
          <p:cNvSpPr txBox="1"/>
          <p:nvPr/>
        </p:nvSpPr>
        <p:spPr>
          <a:xfrm>
            <a:off x="5004048" y="261111"/>
            <a:ext cx="3600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FF0000"/>
                </a:solidFill>
              </a:rPr>
              <a:t>Dependiendo del sistema operativo del usuario, habrá que seguir las instrucciones específicas.</a:t>
            </a:r>
          </a:p>
          <a:p>
            <a:pPr algn="just"/>
            <a:r>
              <a:rPr lang="es-ES" dirty="0">
                <a:solidFill>
                  <a:srgbClr val="FF0000"/>
                </a:solidFill>
              </a:rPr>
              <a:t>IMPORTANTE: No instalar en dispositivos móviles o tablets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9E1EB61-F46A-CDE0-5D99-610F021B4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75" y="2452071"/>
            <a:ext cx="4706745" cy="4165394"/>
          </a:xfrm>
          <a:prstGeom prst="rect">
            <a:avLst/>
          </a:prstGeom>
        </p:spPr>
      </p:pic>
      <p:sp>
        <p:nvSpPr>
          <p:cNvPr id="17" name="Flecha: curvada hacia la derecha 16">
            <a:extLst>
              <a:ext uri="{FF2B5EF4-FFF2-40B4-BE49-F238E27FC236}">
                <a16:creationId xmlns:a16="http://schemas.microsoft.com/office/drawing/2014/main" id="{F759104D-8430-E04D-90A3-69E69B95D559}"/>
              </a:ext>
            </a:extLst>
          </p:cNvPr>
          <p:cNvSpPr/>
          <p:nvPr/>
        </p:nvSpPr>
        <p:spPr>
          <a:xfrm>
            <a:off x="118935" y="1794645"/>
            <a:ext cx="360040" cy="878218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0ACA727-9E40-9BC4-9AD5-135EFC752350}"/>
              </a:ext>
            </a:extLst>
          </p:cNvPr>
          <p:cNvSpPr txBox="1"/>
          <p:nvPr/>
        </p:nvSpPr>
        <p:spPr>
          <a:xfrm>
            <a:off x="4561688" y="3789040"/>
            <a:ext cx="44462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FF0000"/>
                </a:solidFill>
              </a:rPr>
              <a:t>Acceder a la dirección </a:t>
            </a:r>
            <a:r>
              <a:rPr lang="es-ES" sz="1800" dirty="0">
                <a:solidFill>
                  <a:srgbClr val="FF0000"/>
                </a:solidFill>
                <a:hlinkClick r:id="rId4"/>
              </a:rPr>
              <a:t>https://www.fortinet.com/lat/support/product-downloads#vpn</a:t>
            </a:r>
            <a:r>
              <a:rPr lang="es-ES" sz="1800" dirty="0">
                <a:solidFill>
                  <a:srgbClr val="FF0000"/>
                </a:solidFill>
              </a:rPr>
              <a:t>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39663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D1B18-CC94-9590-3D17-6D81BCE84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A2FB1F5-C63C-18E8-F33E-2366C24260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8" y="260648"/>
            <a:ext cx="5682461" cy="377435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36FBAEC-4125-A974-366A-283237C70DF9}"/>
              </a:ext>
            </a:extLst>
          </p:cNvPr>
          <p:cNvSpPr txBox="1"/>
          <p:nvPr/>
        </p:nvSpPr>
        <p:spPr>
          <a:xfrm>
            <a:off x="5364658" y="980728"/>
            <a:ext cx="36004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FF0000"/>
                </a:solidFill>
              </a:rPr>
              <a:t>Al hacer click en </a:t>
            </a:r>
            <a:r>
              <a:rPr lang="es-ES" sz="1800" dirty="0">
                <a:solidFill>
                  <a:srgbClr val="0070C0"/>
                </a:solidFill>
              </a:rPr>
              <a:t>DESCARGAR VPN </a:t>
            </a:r>
            <a:r>
              <a:rPr lang="es-ES" sz="1800" dirty="0">
                <a:solidFill>
                  <a:srgbClr val="FF0000"/>
                </a:solidFill>
              </a:rPr>
              <a:t>se abre una pantalla que solicita algunos datos que podemos rellenar utilizando el correo de la ULL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85871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719C5-BE3F-DDF5-F19E-3F2EDCFD4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11CEF75-B770-53BB-A76F-F835112DD1EB}"/>
              </a:ext>
            </a:extLst>
          </p:cNvPr>
          <p:cNvSpPr txBox="1"/>
          <p:nvPr/>
        </p:nvSpPr>
        <p:spPr>
          <a:xfrm>
            <a:off x="632818" y="260648"/>
            <a:ext cx="73235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FF0000"/>
                </a:solidFill>
              </a:rPr>
              <a:t>Se descargará el instalador del programa cliente de VPN y al hacer click empezará la instalación.</a:t>
            </a:r>
          </a:p>
          <a:p>
            <a:r>
              <a:rPr lang="es-ES" dirty="0">
                <a:solidFill>
                  <a:srgbClr val="FF0000"/>
                </a:solidFill>
              </a:rPr>
              <a:t>Se abre el acuerdo de licencia (License Agreement) y luego se hace click en </a:t>
            </a:r>
            <a:r>
              <a:rPr lang="es-ES" dirty="0">
                <a:solidFill>
                  <a:srgbClr val="0070C0"/>
                </a:solidFill>
              </a:rPr>
              <a:t>Yes, I have read and accept the ….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2C40090-F2BB-29E9-6222-8C00985FA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4784"/>
            <a:ext cx="4311509" cy="340930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66531C2-F0F2-8EC9-396A-96D16769C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341" y="1497360"/>
            <a:ext cx="4168841" cy="3409301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7C812FC6-0566-77EA-402F-6A1A9708550E}"/>
              </a:ext>
            </a:extLst>
          </p:cNvPr>
          <p:cNvSpPr txBox="1"/>
          <p:nvPr/>
        </p:nvSpPr>
        <p:spPr>
          <a:xfrm>
            <a:off x="251520" y="5360640"/>
            <a:ext cx="5760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FF0000"/>
                </a:solidFill>
              </a:rPr>
              <a:t>Cuando finalice la instalación, aparece el icono de FortiClient en los iconos del sistema</a:t>
            </a:r>
            <a:endParaRPr lang="es-ES" dirty="0">
              <a:solidFill>
                <a:srgbClr val="0070C0"/>
              </a:solidFill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A47C2EA-A412-5ABE-03D5-2F93958091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138"/>
          <a:stretch>
            <a:fillRect/>
          </a:stretch>
        </p:blipFill>
        <p:spPr>
          <a:xfrm>
            <a:off x="5434161" y="5445224"/>
            <a:ext cx="2738239" cy="93235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387B482-6C79-60AB-09C7-C7DC2F561B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8337" y="5770735"/>
            <a:ext cx="448574" cy="360040"/>
          </a:xfrm>
          <a:prstGeom prst="rect">
            <a:avLst/>
          </a:prstGeom>
        </p:spPr>
      </p:pic>
      <p:sp>
        <p:nvSpPr>
          <p:cNvPr id="15" name="Flecha: curvada hacia la derecha 14">
            <a:extLst>
              <a:ext uri="{FF2B5EF4-FFF2-40B4-BE49-F238E27FC236}">
                <a16:creationId xmlns:a16="http://schemas.microsoft.com/office/drawing/2014/main" id="{349CEB69-E9A4-5017-567C-FBD41C7F817B}"/>
              </a:ext>
            </a:extLst>
          </p:cNvPr>
          <p:cNvSpPr/>
          <p:nvPr/>
        </p:nvSpPr>
        <p:spPr>
          <a:xfrm>
            <a:off x="6426761" y="4503934"/>
            <a:ext cx="360040" cy="1373337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131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BD6B6-0FC6-795E-A99F-80F586CF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36B02BE-26DF-1581-1F08-CD82BF823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426" y="33133"/>
            <a:ext cx="4387086" cy="34912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4161284-565B-93FF-D269-4E2354EB75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784915"/>
            <a:ext cx="2700828" cy="111170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8B0C4D4-922A-1305-BBD0-1EBBBAB62E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788" y="3454152"/>
            <a:ext cx="4164362" cy="3370715"/>
          </a:xfrm>
          <a:prstGeom prst="rect">
            <a:avLst/>
          </a:prstGeom>
        </p:spPr>
      </p:pic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5DBAA236-9ECA-056E-0EB1-CE79791BFFD8}"/>
              </a:ext>
            </a:extLst>
          </p:cNvPr>
          <p:cNvSpPr/>
          <p:nvPr/>
        </p:nvSpPr>
        <p:spPr>
          <a:xfrm>
            <a:off x="3580188" y="1196752"/>
            <a:ext cx="997214" cy="14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Flecha: curvada hacia la derecha 19">
            <a:extLst>
              <a:ext uri="{FF2B5EF4-FFF2-40B4-BE49-F238E27FC236}">
                <a16:creationId xmlns:a16="http://schemas.microsoft.com/office/drawing/2014/main" id="{57966BA8-8F42-0760-530D-498CF7B5C12F}"/>
              </a:ext>
            </a:extLst>
          </p:cNvPr>
          <p:cNvSpPr/>
          <p:nvPr/>
        </p:nvSpPr>
        <p:spPr>
          <a:xfrm>
            <a:off x="5284739" y="2852936"/>
            <a:ext cx="360040" cy="1584176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720CDD2-7549-E47F-5E07-B27184158503}"/>
              </a:ext>
            </a:extLst>
          </p:cNvPr>
          <p:cNvSpPr txBox="1"/>
          <p:nvPr/>
        </p:nvSpPr>
        <p:spPr>
          <a:xfrm>
            <a:off x="416502" y="1916068"/>
            <a:ext cx="36004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FF0000"/>
                </a:solidFill>
              </a:rPr>
              <a:t>Al hacer click en el icono, se selecciona </a:t>
            </a:r>
            <a:r>
              <a:rPr lang="es-ES" sz="1800" dirty="0">
                <a:solidFill>
                  <a:srgbClr val="0070C0"/>
                </a:solidFill>
              </a:rPr>
              <a:t>Open FortiClient Console</a:t>
            </a:r>
            <a:r>
              <a:rPr lang="es-ES" sz="1800" dirty="0">
                <a:solidFill>
                  <a:srgbClr val="FF0000"/>
                </a:solidFill>
              </a:rPr>
              <a:t>, y en la pantalla de inicio se marca </a:t>
            </a:r>
            <a:r>
              <a:rPr lang="es-ES" sz="1800" dirty="0">
                <a:solidFill>
                  <a:srgbClr val="0070C0"/>
                </a:solidFill>
              </a:rPr>
              <a:t>Reconozco que este software gratuito …</a:t>
            </a:r>
            <a:endParaRPr lang="es-ES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49110C8-0079-FE07-E890-79EA9FA0B0A0}"/>
              </a:ext>
            </a:extLst>
          </p:cNvPr>
          <p:cNvSpPr txBox="1"/>
          <p:nvPr/>
        </p:nvSpPr>
        <p:spPr>
          <a:xfrm>
            <a:off x="0" y="4213076"/>
            <a:ext cx="500404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FF0000"/>
                </a:solidFill>
              </a:rPr>
              <a:t>Se abre el panel de configuración de VPN y se especifica: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0000"/>
                </a:solidFill>
              </a:rPr>
              <a:t>Nombre de Conexión: </a:t>
            </a:r>
            <a:r>
              <a:rPr lang="es-ES" dirty="0">
                <a:solidFill>
                  <a:srgbClr val="0070C0"/>
                </a:solidFill>
              </a:rPr>
              <a:t>VPN-ULL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0000"/>
                </a:solidFill>
              </a:rPr>
              <a:t>Gateway Remoto:</a:t>
            </a:r>
            <a:r>
              <a:rPr lang="es-ES" dirty="0">
                <a:solidFill>
                  <a:srgbClr val="0070C0"/>
                </a:solidFill>
              </a:rPr>
              <a:t> https://vpn.ull.es/PORTAL-ULL</a:t>
            </a:r>
          </a:p>
          <a:p>
            <a:endParaRPr lang="es-ES" dirty="0">
              <a:solidFill>
                <a:srgbClr val="0070C0"/>
              </a:solidFill>
            </a:endParaRPr>
          </a:p>
          <a:p>
            <a:r>
              <a:rPr lang="es-ES" dirty="0">
                <a:solidFill>
                  <a:srgbClr val="FF0000"/>
                </a:solidFill>
              </a:rPr>
              <a:t>y se hace click en </a:t>
            </a:r>
            <a:r>
              <a:rPr lang="es-ES" dirty="0">
                <a:solidFill>
                  <a:srgbClr val="0070C0"/>
                </a:solidFill>
              </a:rPr>
              <a:t>Guardar</a:t>
            </a:r>
            <a:endParaRPr lang="es-ES" dirty="0">
              <a:solidFill>
                <a:srgbClr val="FF0000"/>
              </a:solidFill>
            </a:endParaRPr>
          </a:p>
          <a:p>
            <a:r>
              <a:rPr lang="es-ES" dirty="0">
                <a:solidFill>
                  <a:srgbClr val="FF0000"/>
                </a:solidFill>
              </a:rPr>
              <a:t>En adelante, no será necesario repetir todos estos pasos, simplemente se hace click en el icono del sistema.</a:t>
            </a:r>
          </a:p>
        </p:txBody>
      </p:sp>
      <p:sp>
        <p:nvSpPr>
          <p:cNvPr id="26" name="2 Elipse">
            <a:extLst>
              <a:ext uri="{FF2B5EF4-FFF2-40B4-BE49-F238E27FC236}">
                <a16:creationId xmlns:a16="http://schemas.microsoft.com/office/drawing/2014/main" id="{AE9B8F45-97AB-32B9-370C-055007B949AB}"/>
              </a:ext>
            </a:extLst>
          </p:cNvPr>
          <p:cNvSpPr/>
          <p:nvPr/>
        </p:nvSpPr>
        <p:spPr>
          <a:xfrm>
            <a:off x="6300192" y="4581128"/>
            <a:ext cx="720080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2 Elipse">
            <a:extLst>
              <a:ext uri="{FF2B5EF4-FFF2-40B4-BE49-F238E27FC236}">
                <a16:creationId xmlns:a16="http://schemas.microsoft.com/office/drawing/2014/main" id="{B48221F3-CFA9-5092-52C5-13A8216FDF83}"/>
              </a:ext>
            </a:extLst>
          </p:cNvPr>
          <p:cNvSpPr/>
          <p:nvPr/>
        </p:nvSpPr>
        <p:spPr>
          <a:xfrm>
            <a:off x="6279942" y="4850872"/>
            <a:ext cx="1207809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9" name="8 Conector recto de flecha">
            <a:extLst>
              <a:ext uri="{FF2B5EF4-FFF2-40B4-BE49-F238E27FC236}">
                <a16:creationId xmlns:a16="http://schemas.microsoft.com/office/drawing/2014/main" id="{22FC8936-A019-29B5-6D93-3778DD478A72}"/>
              </a:ext>
            </a:extLst>
          </p:cNvPr>
          <p:cNvCxnSpPr>
            <a:cxnSpLocks/>
          </p:cNvCxnSpPr>
          <p:nvPr/>
        </p:nvCxnSpPr>
        <p:spPr>
          <a:xfrm flipV="1">
            <a:off x="3376527" y="4624568"/>
            <a:ext cx="2903415" cy="3146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8 Conector recto de flecha">
            <a:extLst>
              <a:ext uri="{FF2B5EF4-FFF2-40B4-BE49-F238E27FC236}">
                <a16:creationId xmlns:a16="http://schemas.microsoft.com/office/drawing/2014/main" id="{E6FFEE5F-2CBF-AE8C-320E-ADEB2C0D923E}"/>
              </a:ext>
            </a:extLst>
          </p:cNvPr>
          <p:cNvCxnSpPr>
            <a:cxnSpLocks/>
          </p:cNvCxnSpPr>
          <p:nvPr/>
        </p:nvCxnSpPr>
        <p:spPr>
          <a:xfrm flipV="1">
            <a:off x="4986208" y="5038328"/>
            <a:ext cx="1293734" cy="1645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37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C8C11-0804-C5F7-CE0F-AA5FB237F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uadroTexto 23">
            <a:extLst>
              <a:ext uri="{FF2B5EF4-FFF2-40B4-BE49-F238E27FC236}">
                <a16:creationId xmlns:a16="http://schemas.microsoft.com/office/drawing/2014/main" id="{1BFE9F2E-3F48-FB68-D604-74B03350CA16}"/>
              </a:ext>
            </a:extLst>
          </p:cNvPr>
          <p:cNvSpPr txBox="1"/>
          <p:nvPr/>
        </p:nvSpPr>
        <p:spPr>
          <a:xfrm>
            <a:off x="0" y="548680"/>
            <a:ext cx="500404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FF0000"/>
                </a:solidFill>
              </a:rPr>
              <a:t>En esta pantalla se arranca la conexión VPN a la red de la ULL: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0000"/>
                </a:solidFill>
              </a:rPr>
              <a:t>Nombre de usuario: </a:t>
            </a:r>
            <a:r>
              <a:rPr lang="es-ES" dirty="0">
                <a:solidFill>
                  <a:srgbClr val="0070C0"/>
                </a:solidFill>
              </a:rPr>
              <a:t>aluXXXXXXXX@ull.edu.es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0000"/>
                </a:solidFill>
              </a:rPr>
              <a:t>Contraseña: </a:t>
            </a:r>
            <a:r>
              <a:rPr lang="es-ES" dirty="0">
                <a:solidFill>
                  <a:srgbClr val="0070C0"/>
                </a:solidFill>
              </a:rPr>
              <a:t>**********</a:t>
            </a:r>
          </a:p>
          <a:p>
            <a:endParaRPr lang="es-ES" dirty="0">
              <a:solidFill>
                <a:srgbClr val="0070C0"/>
              </a:solidFill>
            </a:endParaRPr>
          </a:p>
          <a:p>
            <a:r>
              <a:rPr lang="es-ES" dirty="0">
                <a:solidFill>
                  <a:srgbClr val="FF0000"/>
                </a:solidFill>
              </a:rPr>
              <a:t>IMPORTANTE La contraseña es la de ULL (aula virtual), NO es la de Google (con la que accedes a la cuenta de Gmail de ULL) NI la de Microsoft (con la que accedes al ordenador del aula de informática)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CF75BBF-3C0D-B0B8-7777-A39DB31E3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621" y="294998"/>
            <a:ext cx="4242979" cy="3429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C83C6EF-2F8E-B69D-75E0-78E9F1679E86}"/>
              </a:ext>
            </a:extLst>
          </p:cNvPr>
          <p:cNvSpPr txBox="1"/>
          <p:nvPr/>
        </p:nvSpPr>
        <p:spPr>
          <a:xfrm>
            <a:off x="107504" y="3861048"/>
            <a:ext cx="3456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FF0000"/>
                </a:solidFill>
              </a:rPr>
              <a:t>Si la conexión ha ido bien el icono de la bandeja de sistema cambia a </a:t>
            </a:r>
            <a:endParaRPr lang="es-ES" dirty="0">
              <a:solidFill>
                <a:srgbClr val="FF0000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2764411-A88D-5F88-EC61-1F228265C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3935799"/>
            <a:ext cx="562053" cy="57158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1AF5E12-0248-847C-8B73-4F57B0C19BB9}"/>
              </a:ext>
            </a:extLst>
          </p:cNvPr>
          <p:cNvSpPr txBox="1"/>
          <p:nvPr/>
        </p:nvSpPr>
        <p:spPr>
          <a:xfrm>
            <a:off x="107504" y="4986009"/>
            <a:ext cx="3456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FF0000"/>
                </a:solidFill>
              </a:rPr>
              <a:t>Si al finalizar quieres desconectar la VPN, debes hacer click en </a:t>
            </a:r>
            <a:r>
              <a:rPr lang="es-ES" dirty="0">
                <a:solidFill>
                  <a:srgbClr val="0070C0"/>
                </a:solidFill>
              </a:rPr>
              <a:t>Shutdown FortiClient</a:t>
            </a:r>
            <a:endParaRPr lang="es-ES" dirty="0">
              <a:solidFill>
                <a:srgbClr val="FF0000"/>
              </a:solidFill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1F82046-AD41-3879-E797-22EA88E74E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5008849"/>
            <a:ext cx="2700828" cy="111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134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88640"/>
            <a:ext cx="7653886" cy="4372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07504" y="4694803"/>
            <a:ext cx="3600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FF0000"/>
                </a:solidFill>
              </a:rPr>
              <a:t>Por ejemplo, para ordenadores Windows hay que instalar el cliente que corresponda a la versión de cada SO. En general, para sistemas desde Windows 7 en adelante, el cliente típico es el de 64 bits.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4941168"/>
            <a:ext cx="4968552" cy="129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5 Conector recto de flecha"/>
          <p:cNvCxnSpPr/>
          <p:nvPr/>
        </p:nvCxnSpPr>
        <p:spPr>
          <a:xfrm flipV="1">
            <a:off x="3203848" y="5691541"/>
            <a:ext cx="1440160" cy="5400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081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307936" y="188640"/>
            <a:ext cx="36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FF0000"/>
                </a:solidFill>
              </a:rPr>
              <a:t>Una vez instalado, buscar el programa “Global Protect” en el menú de Windows o bien en la barra de tareas. </a:t>
            </a:r>
          </a:p>
        </p:txBody>
      </p:sp>
      <p:cxnSp>
        <p:nvCxnSpPr>
          <p:cNvPr id="6" name="5 Conector recto de flecha"/>
          <p:cNvCxnSpPr/>
          <p:nvPr/>
        </p:nvCxnSpPr>
        <p:spPr>
          <a:xfrm flipV="1">
            <a:off x="4017388" y="698794"/>
            <a:ext cx="1690816" cy="1800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332657"/>
            <a:ext cx="2424025" cy="3229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62" y="2564904"/>
            <a:ext cx="56007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8 Conector recto de flecha"/>
          <p:cNvCxnSpPr/>
          <p:nvPr/>
        </p:nvCxnSpPr>
        <p:spPr>
          <a:xfrm>
            <a:off x="1331640" y="1388969"/>
            <a:ext cx="288032" cy="15664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28" y="3916144"/>
            <a:ext cx="2647950" cy="279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11 Conector recto de flecha"/>
          <p:cNvCxnSpPr/>
          <p:nvPr/>
        </p:nvCxnSpPr>
        <p:spPr>
          <a:xfrm>
            <a:off x="1763688" y="3345954"/>
            <a:ext cx="1296144" cy="7311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 de flecha"/>
          <p:cNvCxnSpPr/>
          <p:nvPr/>
        </p:nvCxnSpPr>
        <p:spPr>
          <a:xfrm flipH="1">
            <a:off x="3424778" y="3212976"/>
            <a:ext cx="3163446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916143"/>
            <a:ext cx="3600400" cy="2838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5" name="24 Conector recto de flecha"/>
          <p:cNvCxnSpPr/>
          <p:nvPr/>
        </p:nvCxnSpPr>
        <p:spPr>
          <a:xfrm>
            <a:off x="3419872" y="4210050"/>
            <a:ext cx="2016224" cy="13071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26 Elipse"/>
          <p:cNvSpPr/>
          <p:nvPr/>
        </p:nvSpPr>
        <p:spPr>
          <a:xfrm>
            <a:off x="5436096" y="5517232"/>
            <a:ext cx="684076" cy="2520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28 CuadroTexto"/>
          <p:cNvSpPr txBox="1"/>
          <p:nvPr/>
        </p:nvSpPr>
        <p:spPr>
          <a:xfrm>
            <a:off x="5076056" y="3933056"/>
            <a:ext cx="374441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FF0000"/>
                </a:solidFill>
              </a:rPr>
              <a:t>Al abrir el programa “Global Protect” hay que añadir como portal de conexión “vpn.ull.es”</a:t>
            </a:r>
          </a:p>
          <a:p>
            <a:pPr algn="just"/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115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307936" y="188640"/>
            <a:ext cx="36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FF0000"/>
                </a:solidFill>
              </a:rPr>
              <a:t>Una vez instalado, buscar el programa “Global Protect” en el menú de Windows o bien en la barra de tareas. </a:t>
            </a:r>
          </a:p>
        </p:txBody>
      </p:sp>
      <p:cxnSp>
        <p:nvCxnSpPr>
          <p:cNvPr id="6" name="5 Conector recto de flecha"/>
          <p:cNvCxnSpPr/>
          <p:nvPr/>
        </p:nvCxnSpPr>
        <p:spPr>
          <a:xfrm flipV="1">
            <a:off x="4017388" y="698794"/>
            <a:ext cx="1690816" cy="1800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332657"/>
            <a:ext cx="2424025" cy="3229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62" y="2564904"/>
            <a:ext cx="56007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8 Conector recto de flecha"/>
          <p:cNvCxnSpPr/>
          <p:nvPr/>
        </p:nvCxnSpPr>
        <p:spPr>
          <a:xfrm>
            <a:off x="1331640" y="1388969"/>
            <a:ext cx="288032" cy="15664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28 CuadroTexto"/>
          <p:cNvSpPr txBox="1"/>
          <p:nvPr/>
        </p:nvSpPr>
        <p:spPr>
          <a:xfrm>
            <a:off x="179512" y="4460919"/>
            <a:ext cx="374441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FF0000"/>
                </a:solidFill>
              </a:rPr>
              <a:t>Al abrir el programa “Global Protect” hay que añadir como portal de conexión “vpn.ull.es”</a:t>
            </a:r>
          </a:p>
          <a:p>
            <a:pPr algn="just"/>
            <a:endParaRPr lang="es-ES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1408" y="4234666"/>
            <a:ext cx="4191000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24 Conector recto de flecha"/>
          <p:cNvCxnSpPr/>
          <p:nvPr/>
        </p:nvCxnSpPr>
        <p:spPr>
          <a:xfrm>
            <a:off x="2411760" y="5215741"/>
            <a:ext cx="3980760" cy="3014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26 Elipse"/>
          <p:cNvSpPr/>
          <p:nvPr/>
        </p:nvSpPr>
        <p:spPr>
          <a:xfrm>
            <a:off x="6392520" y="5485864"/>
            <a:ext cx="684076" cy="2520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208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307936" y="2001614"/>
            <a:ext cx="36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FF0000"/>
                </a:solidFill>
              </a:rPr>
              <a:t>Iniciar la conexión por VPN introduciendo el usuario y contraseña de ULL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300" y="229786"/>
            <a:ext cx="3310880" cy="3992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15 CuadroTexto"/>
          <p:cNvSpPr txBox="1"/>
          <p:nvPr/>
        </p:nvSpPr>
        <p:spPr>
          <a:xfrm>
            <a:off x="5850514" y="2114292"/>
            <a:ext cx="120898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" sz="1400" b="1" dirty="0" err="1">
                <a:solidFill>
                  <a:srgbClr val="FF0000"/>
                </a:solidFill>
              </a:rPr>
              <a:t>aluXXXXXXXX</a:t>
            </a:r>
            <a:endParaRPr lang="es-ES" sz="1400" b="1" dirty="0">
              <a:solidFill>
                <a:srgbClr val="FF0000"/>
              </a:solidFill>
            </a:endParaRPr>
          </a:p>
        </p:txBody>
      </p:sp>
      <p:sp>
        <p:nvSpPr>
          <p:cNvPr id="17" name="16 CuadroTexto"/>
          <p:cNvSpPr txBox="1"/>
          <p:nvPr/>
        </p:nvSpPr>
        <p:spPr>
          <a:xfrm>
            <a:off x="5837664" y="2554744"/>
            <a:ext cx="117211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FF0000"/>
                </a:solidFill>
              </a:rPr>
              <a:t>***********</a:t>
            </a:r>
          </a:p>
        </p:txBody>
      </p:sp>
      <p:cxnSp>
        <p:nvCxnSpPr>
          <p:cNvPr id="6" name="5 Conector recto de flecha"/>
          <p:cNvCxnSpPr/>
          <p:nvPr/>
        </p:nvCxnSpPr>
        <p:spPr>
          <a:xfrm>
            <a:off x="3908336" y="2553289"/>
            <a:ext cx="1690816" cy="14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702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 descr="E:\docencia_investigacion\Git_repos\REPOS_R\R_practicas_inferencia\images\autentificad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75104"/>
            <a:ext cx="8702207" cy="667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Elipse"/>
          <p:cNvSpPr/>
          <p:nvPr/>
        </p:nvSpPr>
        <p:spPr>
          <a:xfrm>
            <a:off x="1043608" y="60307"/>
            <a:ext cx="1368152" cy="2520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CuadroTexto"/>
          <p:cNvSpPr txBox="1"/>
          <p:nvPr/>
        </p:nvSpPr>
        <p:spPr>
          <a:xfrm>
            <a:off x="179513" y="1556792"/>
            <a:ext cx="3600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FF0000"/>
                </a:solidFill>
              </a:rPr>
              <a:t>Acceder al campus virtual de la asignatura o bien a la dirección </a:t>
            </a:r>
            <a:r>
              <a:rPr lang="es-ES" dirty="0">
                <a:solidFill>
                  <a:srgbClr val="FF0000"/>
                </a:solidFill>
                <a:hlinkClick r:id="rId3"/>
              </a:rPr>
              <a:t>http://acceso.ull.es</a:t>
            </a:r>
            <a:r>
              <a:rPr lang="es-ES" dirty="0">
                <a:solidFill>
                  <a:srgbClr val="FF0000"/>
                </a:solidFill>
              </a:rPr>
              <a:t> y comprobar que estás autentificado. En caso contrario, autentificarse ya que, de lo contrario, no podrás hacer los siguientes pasos.</a:t>
            </a:r>
          </a:p>
        </p:txBody>
      </p:sp>
      <p:cxnSp>
        <p:nvCxnSpPr>
          <p:cNvPr id="4" name="3 Conector recto de flecha"/>
          <p:cNvCxnSpPr/>
          <p:nvPr/>
        </p:nvCxnSpPr>
        <p:spPr>
          <a:xfrm flipV="1">
            <a:off x="1331640" y="404664"/>
            <a:ext cx="288032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948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docencia_investigacion\Git_repos\REPOS_R\R_practicas_inferencia\images\iaas_we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8640"/>
            <a:ext cx="8195217" cy="6386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1702728" y="4633684"/>
            <a:ext cx="1431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solidFill>
                  <a:srgbClr val="FF0000"/>
                </a:solidFill>
              </a:rPr>
              <a:t>aluXXXXXXXX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700038" y="5003884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***********</a:t>
            </a:r>
          </a:p>
        </p:txBody>
      </p:sp>
      <p:sp>
        <p:nvSpPr>
          <p:cNvPr id="5" name="4 Elipse"/>
          <p:cNvSpPr/>
          <p:nvPr/>
        </p:nvSpPr>
        <p:spPr>
          <a:xfrm>
            <a:off x="1115616" y="204323"/>
            <a:ext cx="1368152" cy="2520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" name="5 Conector recto de flecha"/>
          <p:cNvCxnSpPr/>
          <p:nvPr/>
        </p:nvCxnSpPr>
        <p:spPr>
          <a:xfrm flipV="1">
            <a:off x="1403648" y="548680"/>
            <a:ext cx="288032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6 CuadroTexto"/>
          <p:cNvSpPr txBox="1"/>
          <p:nvPr/>
        </p:nvSpPr>
        <p:spPr>
          <a:xfrm>
            <a:off x="395537" y="1674674"/>
            <a:ext cx="46085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Acceder a </a:t>
            </a:r>
            <a:r>
              <a:rPr lang="es-ES" dirty="0">
                <a:solidFill>
                  <a:srgbClr val="FFFF00"/>
                </a:solidFill>
              </a:rPr>
              <a:t>http://iaas.ull.es </a:t>
            </a:r>
            <a:r>
              <a:rPr lang="es-ES" dirty="0">
                <a:solidFill>
                  <a:srgbClr val="FF0000"/>
                </a:solidFill>
              </a:rPr>
              <a:t>y autentificarse también en esta pantalla (usuario de ULL y contraseña de aula virtual).</a:t>
            </a:r>
          </a:p>
        </p:txBody>
      </p:sp>
      <p:cxnSp>
        <p:nvCxnSpPr>
          <p:cNvPr id="8" name="7 Conector recto de flecha"/>
          <p:cNvCxnSpPr/>
          <p:nvPr/>
        </p:nvCxnSpPr>
        <p:spPr>
          <a:xfrm>
            <a:off x="1403648" y="2598004"/>
            <a:ext cx="372406" cy="20356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849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docencia_investigacion\Git_repos\REPOS_R\R_practicas_inferencia\images\virt_machin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548680"/>
            <a:ext cx="8496944" cy="5970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3131841" y="3284984"/>
            <a:ext cx="38164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Hacer click en “Ejecutar” y </a:t>
            </a:r>
          </a:p>
          <a:p>
            <a:r>
              <a:rPr lang="es-ES" dirty="0">
                <a:solidFill>
                  <a:srgbClr val="FF0000"/>
                </a:solidFill>
              </a:rPr>
              <a:t>la máquina virtual comenzará a cargar</a:t>
            </a:r>
          </a:p>
          <a:p>
            <a:r>
              <a:rPr lang="es-ES" dirty="0">
                <a:solidFill>
                  <a:srgbClr val="FF0000"/>
                </a:solidFill>
              </a:rPr>
              <a:t>PACIENCIA tarda un rato</a:t>
            </a:r>
          </a:p>
        </p:txBody>
      </p:sp>
      <p:cxnSp>
        <p:nvCxnSpPr>
          <p:cNvPr id="4" name="3 Conector recto de flecha"/>
          <p:cNvCxnSpPr/>
          <p:nvPr/>
        </p:nvCxnSpPr>
        <p:spPr>
          <a:xfrm flipH="1">
            <a:off x="1763688" y="3533824"/>
            <a:ext cx="1368153" cy="18393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 de flecha"/>
          <p:cNvCxnSpPr/>
          <p:nvPr/>
        </p:nvCxnSpPr>
        <p:spPr>
          <a:xfrm flipH="1" flipV="1">
            <a:off x="5940152" y="2031230"/>
            <a:ext cx="576064" cy="1613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Rectángulo"/>
          <p:cNvSpPr/>
          <p:nvPr/>
        </p:nvSpPr>
        <p:spPr>
          <a:xfrm>
            <a:off x="2051720" y="950248"/>
            <a:ext cx="122413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9043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docencia_investigacion\Git_repos\REPOS_R\R_practicas_inferencia\images\virt_machine_start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20689"/>
            <a:ext cx="8784976" cy="5688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467544" y="4437112"/>
            <a:ext cx="28083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FF0000"/>
                </a:solidFill>
              </a:rPr>
              <a:t>Esta es la dirección IP de la máquina. </a:t>
            </a:r>
          </a:p>
          <a:p>
            <a:pPr algn="just"/>
            <a:r>
              <a:rPr lang="es-ES" dirty="0">
                <a:solidFill>
                  <a:srgbClr val="FF0000"/>
                </a:solidFill>
              </a:rPr>
              <a:t>A cada alumno le sale su propia IP (la que sale en este gráfico es ficticia) así que hay que anotarla para utilizarla más adelante.</a:t>
            </a:r>
          </a:p>
        </p:txBody>
      </p:sp>
      <p:cxnSp>
        <p:nvCxnSpPr>
          <p:cNvPr id="5" name="4 Conector recto de flecha"/>
          <p:cNvCxnSpPr/>
          <p:nvPr/>
        </p:nvCxnSpPr>
        <p:spPr>
          <a:xfrm flipV="1">
            <a:off x="2843808" y="3433638"/>
            <a:ext cx="1728192" cy="10034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CuadroTexto"/>
          <p:cNvSpPr txBox="1"/>
          <p:nvPr/>
        </p:nvSpPr>
        <p:spPr>
          <a:xfrm>
            <a:off x="4644008" y="3068960"/>
            <a:ext cx="14109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" dirty="0"/>
              <a:t>10.6.128.255</a:t>
            </a:r>
          </a:p>
        </p:txBody>
      </p:sp>
      <p:sp>
        <p:nvSpPr>
          <p:cNvPr id="2" name="1 Elipse"/>
          <p:cNvSpPr/>
          <p:nvPr/>
        </p:nvSpPr>
        <p:spPr>
          <a:xfrm>
            <a:off x="4572000" y="3038480"/>
            <a:ext cx="1482972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9325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:\docencia_investigacion\Git_repos\REPOS_R\R_practicas_inferencia\images\rstudio_logi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90" y="465161"/>
            <a:ext cx="8717698" cy="5124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251520" y="2128788"/>
            <a:ext cx="28083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FF0000"/>
                </a:solidFill>
              </a:rPr>
              <a:t>Introducir en la barra de direcciones del navegador la dirección IP que cada uno obtiene del paso anterior seguida de :8087 (puedes añadirla a Mis Favoritos)</a:t>
            </a:r>
          </a:p>
        </p:txBody>
      </p:sp>
      <p:cxnSp>
        <p:nvCxnSpPr>
          <p:cNvPr id="4" name="3 Conector recto de flecha"/>
          <p:cNvCxnSpPr/>
          <p:nvPr/>
        </p:nvCxnSpPr>
        <p:spPr>
          <a:xfrm flipV="1">
            <a:off x="1403648" y="908720"/>
            <a:ext cx="337760" cy="12241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6 CuadroTexto"/>
          <p:cNvSpPr txBox="1"/>
          <p:nvPr/>
        </p:nvSpPr>
        <p:spPr>
          <a:xfrm>
            <a:off x="1350931" y="472614"/>
            <a:ext cx="1266693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s-ES" sz="1100" b="1" dirty="0"/>
              <a:t>10.6.128.255:8087</a:t>
            </a:r>
          </a:p>
        </p:txBody>
      </p:sp>
      <p:sp>
        <p:nvSpPr>
          <p:cNvPr id="5" name="4 Elipse"/>
          <p:cNvSpPr/>
          <p:nvPr/>
        </p:nvSpPr>
        <p:spPr>
          <a:xfrm>
            <a:off x="1099732" y="353864"/>
            <a:ext cx="1589899" cy="4523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" name="7 Conector recto de flecha"/>
          <p:cNvCxnSpPr/>
          <p:nvPr/>
        </p:nvCxnSpPr>
        <p:spPr>
          <a:xfrm flipV="1">
            <a:off x="2195736" y="3027202"/>
            <a:ext cx="3744416" cy="1697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CuadroTexto"/>
          <p:cNvSpPr txBox="1"/>
          <p:nvPr/>
        </p:nvSpPr>
        <p:spPr>
          <a:xfrm>
            <a:off x="5908890" y="2852936"/>
            <a:ext cx="61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infer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5908784" y="3307060"/>
            <a:ext cx="1086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infer2026</a:t>
            </a:r>
          </a:p>
        </p:txBody>
      </p:sp>
      <p:sp>
        <p:nvSpPr>
          <p:cNvPr id="13" name="12 CuadroTexto"/>
          <p:cNvSpPr txBox="1"/>
          <p:nvPr/>
        </p:nvSpPr>
        <p:spPr>
          <a:xfrm>
            <a:off x="251520" y="4122946"/>
            <a:ext cx="47525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FF0000"/>
                </a:solidFill>
              </a:rPr>
              <a:t>Para acceder a la aplicación Rstudio se utiliza el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0000"/>
                </a:solidFill>
              </a:rPr>
              <a:t>username: infer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0000"/>
                </a:solidFill>
              </a:rPr>
              <a:t>password: infer2026</a:t>
            </a:r>
          </a:p>
          <a:p>
            <a:pPr algn="just"/>
            <a:endParaRPr lang="es-ES" dirty="0">
              <a:solidFill>
                <a:srgbClr val="FF0000"/>
              </a:solidFill>
            </a:endParaRPr>
          </a:p>
          <a:p>
            <a:pPr algn="just"/>
            <a:r>
              <a:rPr lang="es-ES" dirty="0">
                <a:solidFill>
                  <a:srgbClr val="FF0000"/>
                </a:solidFill>
              </a:rPr>
              <a:t>Este password se puede cambiar siguiendo las instrucciones que aparecen en la web</a:t>
            </a:r>
          </a:p>
        </p:txBody>
      </p:sp>
    </p:spTree>
    <p:extLst>
      <p:ext uri="{BB962C8B-B14F-4D97-AF65-F5344CB8AC3E}">
        <p14:creationId xmlns:p14="http://schemas.microsoft.com/office/powerpoint/2010/main" val="1235298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E:\docencia_investigacion\Git_repos\REPOS_R\R_practicas_inferencia\images\rstudi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71739"/>
            <a:ext cx="8806316" cy="6037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1573171" y="544622"/>
            <a:ext cx="1266693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s-ES" sz="1100" b="1" dirty="0"/>
              <a:t>10.6.128.255:8087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899593" y="2383720"/>
            <a:ext cx="38164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Este es el entorno de Rstudio en la nube que podrás utilizar durante el curso en esta asignatura.</a:t>
            </a:r>
          </a:p>
          <a:p>
            <a:r>
              <a:rPr lang="es-ES" dirty="0">
                <a:solidFill>
                  <a:srgbClr val="FF0000"/>
                </a:solidFill>
              </a:rPr>
              <a:t>Cuando acabes la práctica puedes cerrar las pestañas del navegador.</a:t>
            </a:r>
          </a:p>
        </p:txBody>
      </p:sp>
      <p:cxnSp>
        <p:nvCxnSpPr>
          <p:cNvPr id="5" name="4 Conector recto de flecha"/>
          <p:cNvCxnSpPr/>
          <p:nvPr/>
        </p:nvCxnSpPr>
        <p:spPr>
          <a:xfrm flipV="1">
            <a:off x="3611646" y="476672"/>
            <a:ext cx="1536418" cy="18427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 de flecha"/>
          <p:cNvCxnSpPr/>
          <p:nvPr/>
        </p:nvCxnSpPr>
        <p:spPr>
          <a:xfrm flipV="1">
            <a:off x="2987824" y="544622"/>
            <a:ext cx="432048" cy="17322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 de flecha"/>
          <p:cNvCxnSpPr/>
          <p:nvPr/>
        </p:nvCxnSpPr>
        <p:spPr>
          <a:xfrm flipH="1" flipV="1">
            <a:off x="1691681" y="476672"/>
            <a:ext cx="792087" cy="1800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4 Conector recto de flecha">
            <a:extLst>
              <a:ext uri="{FF2B5EF4-FFF2-40B4-BE49-F238E27FC236}">
                <a16:creationId xmlns:a16="http://schemas.microsoft.com/office/drawing/2014/main" id="{F8CD71FA-781A-9625-BF2F-B49182D02455}"/>
              </a:ext>
            </a:extLst>
          </p:cNvPr>
          <p:cNvCxnSpPr>
            <a:cxnSpLocks/>
          </p:cNvCxnSpPr>
          <p:nvPr/>
        </p:nvCxnSpPr>
        <p:spPr>
          <a:xfrm flipV="1">
            <a:off x="5580112" y="4599379"/>
            <a:ext cx="304263" cy="4137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39775DB3-8A05-CFC2-556C-7E4AF95683D8}"/>
              </a:ext>
            </a:extLst>
          </p:cNvPr>
          <p:cNvSpPr/>
          <p:nvPr/>
        </p:nvSpPr>
        <p:spPr>
          <a:xfrm>
            <a:off x="4932040" y="3804490"/>
            <a:ext cx="1944216" cy="734079"/>
          </a:xfrm>
          <a:prstGeom prst="rect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3 CuadroTexto">
            <a:extLst>
              <a:ext uri="{FF2B5EF4-FFF2-40B4-BE49-F238E27FC236}">
                <a16:creationId xmlns:a16="http://schemas.microsoft.com/office/drawing/2014/main" id="{21D05C51-C6AE-DEEA-AC66-9BB899968689}"/>
              </a:ext>
            </a:extLst>
          </p:cNvPr>
          <p:cNvSpPr txBox="1"/>
          <p:nvPr/>
        </p:nvSpPr>
        <p:spPr>
          <a:xfrm>
            <a:off x="4932040" y="4972519"/>
            <a:ext cx="38164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IMPORTANTE: No eliminen ni muevan de carpeta estos archivos ya que gracias a ellos se puede conseguir la sincronización del material docente de las prácticas.</a:t>
            </a:r>
          </a:p>
        </p:txBody>
      </p:sp>
    </p:spTree>
    <p:extLst>
      <p:ext uri="{BB962C8B-B14F-4D97-AF65-F5344CB8AC3E}">
        <p14:creationId xmlns:p14="http://schemas.microsoft.com/office/powerpoint/2010/main" val="1301546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docencia_investigacion\Git_repos\REPOS_R\R_practicas_inferencia\images\virt_machine_start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20689"/>
            <a:ext cx="8784976" cy="5688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35496" y="3789040"/>
            <a:ext cx="30243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FF0000"/>
                </a:solidFill>
              </a:rPr>
              <a:t>Al finalizar la práctica se recomienda apagar la máquina virtual para evitar saturar este servicio que usan otros alumnos de la universidad.</a:t>
            </a:r>
          </a:p>
          <a:p>
            <a:pPr algn="just"/>
            <a:r>
              <a:rPr lang="es-ES" dirty="0">
                <a:solidFill>
                  <a:srgbClr val="FF0000"/>
                </a:solidFill>
              </a:rPr>
              <a:t>La próxima vez que necesitemos utilizar la máquina repetimos los pasos que hemos seguido aquí.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4644008" y="3192193"/>
            <a:ext cx="1007007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" sz="1200" dirty="0"/>
              <a:t>10.6.128.255</a:t>
            </a:r>
          </a:p>
        </p:txBody>
      </p:sp>
      <p:sp>
        <p:nvSpPr>
          <p:cNvPr id="2" name="1 Elipse"/>
          <p:cNvSpPr/>
          <p:nvPr/>
        </p:nvSpPr>
        <p:spPr>
          <a:xfrm>
            <a:off x="6804248" y="1556792"/>
            <a:ext cx="648072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" name="4 Conector recto de flecha"/>
          <p:cNvCxnSpPr/>
          <p:nvPr/>
        </p:nvCxnSpPr>
        <p:spPr>
          <a:xfrm flipV="1">
            <a:off x="2627784" y="1916832"/>
            <a:ext cx="4176464" cy="18722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5691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1013</Words>
  <Application>Microsoft Office PowerPoint</Application>
  <PresentationFormat>Presentación en pantalla (4:3)</PresentationFormat>
  <Paragraphs>84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</dc:creator>
  <cp:lastModifiedBy>Carlos Javier Pérez González</cp:lastModifiedBy>
  <cp:revision>36</cp:revision>
  <dcterms:created xsi:type="dcterms:W3CDTF">2020-07-23T13:50:07Z</dcterms:created>
  <dcterms:modified xsi:type="dcterms:W3CDTF">2026-07-30T16:47:35Z</dcterms:modified>
</cp:coreProperties>
</file>