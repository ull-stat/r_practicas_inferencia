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4" r:id="rId4"/>
    <p:sldId id="266" r:id="rId5"/>
    <p:sldId id="267" r:id="rId6"/>
    <p:sldId id="268" r:id="rId7"/>
    <p:sldId id="270" r:id="rId8"/>
    <p:sldId id="269" r:id="rId9"/>
    <p:sldId id="261" r:id="rId10"/>
    <p:sldId id="257" r:id="rId11"/>
    <p:sldId id="258" r:id="rId12"/>
    <p:sldId id="259" r:id="rId13"/>
    <p:sldId id="262" r:id="rId14"/>
    <p:sldId id="260" r:id="rId15"/>
    <p:sldId id="263" r:id="rId16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936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012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35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3893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6018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9355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4158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5039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4316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4141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124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7045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7271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usuarios.ull.es/vp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acceso.ull.es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blob:https://web.whatsapp.com/dff592c5-2813-406e-bf29-d0e9afb4b37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204864"/>
            <a:ext cx="5391150" cy="156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5 CuadroTexto"/>
          <p:cNvSpPr txBox="1"/>
          <p:nvPr/>
        </p:nvSpPr>
        <p:spPr>
          <a:xfrm>
            <a:off x="2555776" y="285293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******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3275856" y="2987660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******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3779912" y="3151772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******</a:t>
            </a:r>
          </a:p>
        </p:txBody>
      </p:sp>
      <p:cxnSp>
        <p:nvCxnSpPr>
          <p:cNvPr id="12" name="11 Conector recto de flecha"/>
          <p:cNvCxnSpPr>
            <a:stCxn id="13" idx="1"/>
          </p:cNvCxnSpPr>
          <p:nvPr/>
        </p:nvCxnSpPr>
        <p:spPr>
          <a:xfrm flipH="1">
            <a:off x="3379145" y="2483604"/>
            <a:ext cx="1060526" cy="5023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12 CuadroTexto"/>
          <p:cNvSpPr txBox="1"/>
          <p:nvPr/>
        </p:nvSpPr>
        <p:spPr>
          <a:xfrm>
            <a:off x="4439671" y="2298938"/>
            <a:ext cx="411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Poner la contraseña actual, es decir, </a:t>
            </a:r>
            <a:r>
              <a:rPr lang="es-ES" b="1" dirty="0"/>
              <a:t>estad</a:t>
            </a:r>
          </a:p>
        </p:txBody>
      </p:sp>
      <p:sp>
        <p:nvSpPr>
          <p:cNvPr id="15" name="14 CuadroTexto"/>
          <p:cNvSpPr txBox="1"/>
          <p:nvPr/>
        </p:nvSpPr>
        <p:spPr>
          <a:xfrm>
            <a:off x="5168160" y="2774456"/>
            <a:ext cx="394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Poner la nueva contraseña que se desee</a:t>
            </a:r>
          </a:p>
        </p:txBody>
      </p:sp>
      <p:cxnSp>
        <p:nvCxnSpPr>
          <p:cNvPr id="17" name="16 Conector recto de flecha"/>
          <p:cNvCxnSpPr>
            <a:stCxn id="15" idx="1"/>
          </p:cNvCxnSpPr>
          <p:nvPr/>
        </p:nvCxnSpPr>
        <p:spPr>
          <a:xfrm flipH="1">
            <a:off x="4067945" y="2959122"/>
            <a:ext cx="1100215" cy="14496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18 CuadroTexto"/>
          <p:cNvSpPr txBox="1"/>
          <p:nvPr/>
        </p:nvSpPr>
        <p:spPr>
          <a:xfrm>
            <a:off x="5168160" y="3243120"/>
            <a:ext cx="2796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Repetir la nueva contraseña</a:t>
            </a:r>
          </a:p>
        </p:txBody>
      </p:sp>
      <p:cxnSp>
        <p:nvCxnSpPr>
          <p:cNvPr id="20" name="19 Conector recto de flecha"/>
          <p:cNvCxnSpPr/>
          <p:nvPr/>
        </p:nvCxnSpPr>
        <p:spPr>
          <a:xfrm flipH="1" flipV="1">
            <a:off x="4623883" y="3295395"/>
            <a:ext cx="595094" cy="1336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28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116632"/>
            <a:ext cx="8266886" cy="6597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2 Elipse"/>
          <p:cNvSpPr/>
          <p:nvPr/>
        </p:nvSpPr>
        <p:spPr>
          <a:xfrm>
            <a:off x="1259632" y="44624"/>
            <a:ext cx="1872208" cy="4320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5148064" y="3437940"/>
            <a:ext cx="38164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Abrir un navegador web y acceder a la dirección </a:t>
            </a:r>
            <a:r>
              <a:rPr lang="es-ES" dirty="0">
                <a:solidFill>
                  <a:srgbClr val="FF0000"/>
                </a:solidFill>
                <a:hlinkClick r:id="rId3"/>
              </a:rPr>
              <a:t>http://usuarios.ull.es/vpn</a:t>
            </a:r>
            <a:r>
              <a:rPr lang="es-ES" dirty="0">
                <a:solidFill>
                  <a:srgbClr val="FF0000"/>
                </a:solidFill>
              </a:rPr>
              <a:t>. Hacer click en </a:t>
            </a:r>
            <a:r>
              <a:rPr lang="es-ES" dirty="0"/>
              <a:t>Servicio de VPN de la ULL</a:t>
            </a:r>
          </a:p>
        </p:txBody>
      </p:sp>
      <p:cxnSp>
        <p:nvCxnSpPr>
          <p:cNvPr id="4" name="3 Conector recto de flecha"/>
          <p:cNvCxnSpPr/>
          <p:nvPr/>
        </p:nvCxnSpPr>
        <p:spPr>
          <a:xfrm flipH="1" flipV="1">
            <a:off x="1979713" y="312336"/>
            <a:ext cx="3168351" cy="31886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8 Conector recto de flecha"/>
          <p:cNvCxnSpPr/>
          <p:nvPr/>
        </p:nvCxnSpPr>
        <p:spPr>
          <a:xfrm flipH="1">
            <a:off x="5004048" y="4581128"/>
            <a:ext cx="296417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Elipse"/>
          <p:cNvSpPr/>
          <p:nvPr/>
        </p:nvSpPr>
        <p:spPr>
          <a:xfrm>
            <a:off x="2195736" y="4869160"/>
            <a:ext cx="3024336" cy="4320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6353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008" y="116632"/>
            <a:ext cx="7352392" cy="6539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4 CuadroTexto"/>
          <p:cNvSpPr txBox="1"/>
          <p:nvPr/>
        </p:nvSpPr>
        <p:spPr>
          <a:xfrm>
            <a:off x="179513" y="1796623"/>
            <a:ext cx="360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Seguir las instrucciones de las Guías de configuración para instalar el cliente VPN que permite hacer una conexión a ULL</a:t>
            </a:r>
          </a:p>
        </p:txBody>
      </p:sp>
    </p:spTree>
    <p:extLst>
      <p:ext uri="{BB962C8B-B14F-4D97-AF65-F5344CB8AC3E}">
        <p14:creationId xmlns:p14="http://schemas.microsoft.com/office/powerpoint/2010/main" val="2867072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548680"/>
            <a:ext cx="8950030" cy="5112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4 CuadroTexto"/>
          <p:cNvSpPr txBox="1"/>
          <p:nvPr/>
        </p:nvSpPr>
        <p:spPr>
          <a:xfrm>
            <a:off x="4067944" y="764704"/>
            <a:ext cx="3600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Por ejemplo, para ordenadores Windows hay que instalar el cliente que corresponda a la versión de cada SO. En general, para sistemas desde Windows 7 en adelante, el cliente típico es el de 64 bits. </a:t>
            </a:r>
          </a:p>
        </p:txBody>
      </p:sp>
    </p:spTree>
    <p:extLst>
      <p:ext uri="{BB962C8B-B14F-4D97-AF65-F5344CB8AC3E}">
        <p14:creationId xmlns:p14="http://schemas.microsoft.com/office/powerpoint/2010/main" val="9396635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188640"/>
            <a:ext cx="7653886" cy="43721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4 CuadroTexto"/>
          <p:cNvSpPr txBox="1"/>
          <p:nvPr/>
        </p:nvSpPr>
        <p:spPr>
          <a:xfrm>
            <a:off x="107504" y="4694803"/>
            <a:ext cx="3600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Por ejemplo, para ordenadores Windows hay que instalar el cliente que corresponda a la versión de cada SO. En general, para sistemas desde Windows 7 en adelante, el cliente típico es el de 64 bits. 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4941168"/>
            <a:ext cx="4968552" cy="12904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" name="5 Conector recto de flecha"/>
          <p:cNvCxnSpPr/>
          <p:nvPr/>
        </p:nvCxnSpPr>
        <p:spPr>
          <a:xfrm flipV="1">
            <a:off x="3203848" y="5691541"/>
            <a:ext cx="1440160" cy="5400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08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307936" y="188640"/>
            <a:ext cx="360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Una vez instalado, buscar el programa “Global Protect” en el menú de Windows o bien en la barra de tareas. </a:t>
            </a:r>
          </a:p>
        </p:txBody>
      </p:sp>
      <p:cxnSp>
        <p:nvCxnSpPr>
          <p:cNvPr id="6" name="5 Conector recto de flecha"/>
          <p:cNvCxnSpPr/>
          <p:nvPr/>
        </p:nvCxnSpPr>
        <p:spPr>
          <a:xfrm flipV="1">
            <a:off x="4017388" y="698794"/>
            <a:ext cx="1690816" cy="1800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332657"/>
            <a:ext cx="2424025" cy="3229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162" y="2564904"/>
            <a:ext cx="5600700" cy="78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" name="8 Conector recto de flecha"/>
          <p:cNvCxnSpPr/>
          <p:nvPr/>
        </p:nvCxnSpPr>
        <p:spPr>
          <a:xfrm>
            <a:off x="1331640" y="1388969"/>
            <a:ext cx="288032" cy="15664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828" y="3916144"/>
            <a:ext cx="2647950" cy="2790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2" name="11 Conector recto de flecha"/>
          <p:cNvCxnSpPr/>
          <p:nvPr/>
        </p:nvCxnSpPr>
        <p:spPr>
          <a:xfrm>
            <a:off x="1763688" y="3345954"/>
            <a:ext cx="1296144" cy="73111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 de flecha"/>
          <p:cNvCxnSpPr/>
          <p:nvPr/>
        </p:nvCxnSpPr>
        <p:spPr>
          <a:xfrm flipH="1">
            <a:off x="3424778" y="3212976"/>
            <a:ext cx="3163446" cy="8640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3916143"/>
            <a:ext cx="3600400" cy="28389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25" name="24 Conector recto de flecha"/>
          <p:cNvCxnSpPr/>
          <p:nvPr/>
        </p:nvCxnSpPr>
        <p:spPr>
          <a:xfrm>
            <a:off x="3419872" y="4210050"/>
            <a:ext cx="2016224" cy="130718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26 Elipse"/>
          <p:cNvSpPr/>
          <p:nvPr/>
        </p:nvSpPr>
        <p:spPr>
          <a:xfrm>
            <a:off x="5436096" y="5517232"/>
            <a:ext cx="684076" cy="2520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28 CuadroTexto"/>
          <p:cNvSpPr txBox="1"/>
          <p:nvPr/>
        </p:nvSpPr>
        <p:spPr>
          <a:xfrm>
            <a:off x="5076056" y="3933056"/>
            <a:ext cx="374441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Al abrir el programa “Global Protect” hay que añadir como portal de conexión “vpn.ull.es”</a:t>
            </a:r>
          </a:p>
          <a:p>
            <a:pPr algn="just"/>
            <a:endParaRPr lang="es-E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115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307936" y="188640"/>
            <a:ext cx="360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Una vez instalado, buscar el programa “Global Protect” en el menú de Windows o bien en la barra de tareas. </a:t>
            </a:r>
          </a:p>
        </p:txBody>
      </p:sp>
      <p:cxnSp>
        <p:nvCxnSpPr>
          <p:cNvPr id="6" name="5 Conector recto de flecha"/>
          <p:cNvCxnSpPr/>
          <p:nvPr/>
        </p:nvCxnSpPr>
        <p:spPr>
          <a:xfrm flipV="1">
            <a:off x="4017388" y="698794"/>
            <a:ext cx="1690816" cy="1800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332657"/>
            <a:ext cx="2424025" cy="3229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162" y="2564904"/>
            <a:ext cx="5600700" cy="78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" name="8 Conector recto de flecha"/>
          <p:cNvCxnSpPr/>
          <p:nvPr/>
        </p:nvCxnSpPr>
        <p:spPr>
          <a:xfrm>
            <a:off x="1331640" y="1388969"/>
            <a:ext cx="288032" cy="15664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28 CuadroTexto"/>
          <p:cNvSpPr txBox="1"/>
          <p:nvPr/>
        </p:nvSpPr>
        <p:spPr>
          <a:xfrm>
            <a:off x="179512" y="4460919"/>
            <a:ext cx="374441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Al abrir el programa “Global Protect” hay que añadir como portal de conexión “vpn.ull.es”</a:t>
            </a:r>
          </a:p>
          <a:p>
            <a:pPr algn="just"/>
            <a:endParaRPr lang="es-ES" dirty="0">
              <a:solidFill>
                <a:srgbClr val="FF0000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1408" y="4234666"/>
            <a:ext cx="4191000" cy="196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24 Conector recto de flecha"/>
          <p:cNvCxnSpPr/>
          <p:nvPr/>
        </p:nvCxnSpPr>
        <p:spPr>
          <a:xfrm>
            <a:off x="2411760" y="5215741"/>
            <a:ext cx="3980760" cy="30149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26 Elipse"/>
          <p:cNvSpPr/>
          <p:nvPr/>
        </p:nvSpPr>
        <p:spPr>
          <a:xfrm>
            <a:off x="6392520" y="5485864"/>
            <a:ext cx="684076" cy="2520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208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307936" y="2001614"/>
            <a:ext cx="360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Iniciar la conexión por VPN introduciendo el usuario y contraseña de ULL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300" y="229786"/>
            <a:ext cx="3310880" cy="3992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15 CuadroTexto"/>
          <p:cNvSpPr txBox="1"/>
          <p:nvPr/>
        </p:nvSpPr>
        <p:spPr>
          <a:xfrm>
            <a:off x="5850514" y="2114292"/>
            <a:ext cx="120898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" sz="1400" b="1" dirty="0" err="1">
                <a:solidFill>
                  <a:srgbClr val="FF0000"/>
                </a:solidFill>
              </a:rPr>
              <a:t>aluXXXXXXXX</a:t>
            </a:r>
            <a:endParaRPr lang="es-ES" sz="1400" b="1" dirty="0">
              <a:solidFill>
                <a:srgbClr val="FF0000"/>
              </a:solidFill>
            </a:endParaRPr>
          </a:p>
        </p:txBody>
      </p:sp>
      <p:sp>
        <p:nvSpPr>
          <p:cNvPr id="17" name="16 CuadroTexto"/>
          <p:cNvSpPr txBox="1"/>
          <p:nvPr/>
        </p:nvSpPr>
        <p:spPr>
          <a:xfrm>
            <a:off x="5837664" y="2554744"/>
            <a:ext cx="1172116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rgbClr val="FF0000"/>
                </a:solidFill>
              </a:rPr>
              <a:t>***********</a:t>
            </a:r>
          </a:p>
        </p:txBody>
      </p:sp>
      <p:cxnSp>
        <p:nvCxnSpPr>
          <p:cNvPr id="6" name="5 Conector recto de flecha"/>
          <p:cNvCxnSpPr/>
          <p:nvPr/>
        </p:nvCxnSpPr>
        <p:spPr>
          <a:xfrm>
            <a:off x="3908336" y="2553289"/>
            <a:ext cx="1690816" cy="145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6702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 descr="E:\docencia_investigacion\Git_repos\REPOS_R\R_practicas_inferencia\images\autentificad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75104"/>
            <a:ext cx="8702207" cy="667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2 Elipse"/>
          <p:cNvSpPr/>
          <p:nvPr/>
        </p:nvSpPr>
        <p:spPr>
          <a:xfrm>
            <a:off x="1043608" y="60307"/>
            <a:ext cx="1368152" cy="2520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179513" y="1556792"/>
            <a:ext cx="3600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Acceder al campus virtual de la asignatura o bien a la dirección </a:t>
            </a:r>
            <a:r>
              <a:rPr lang="es-ES" dirty="0">
                <a:solidFill>
                  <a:srgbClr val="FF0000"/>
                </a:solidFill>
                <a:hlinkClick r:id="rId3"/>
              </a:rPr>
              <a:t>http://acceso.ull.es</a:t>
            </a:r>
            <a:r>
              <a:rPr lang="es-ES" dirty="0">
                <a:solidFill>
                  <a:srgbClr val="FF0000"/>
                </a:solidFill>
              </a:rPr>
              <a:t> y comprobar que estás autentificado. En caso contrario, autentificarse ya que, de lo contrario, no podrás hacer los siguientes pasos.</a:t>
            </a:r>
          </a:p>
        </p:txBody>
      </p:sp>
      <p:cxnSp>
        <p:nvCxnSpPr>
          <p:cNvPr id="4" name="3 Conector recto de flecha"/>
          <p:cNvCxnSpPr/>
          <p:nvPr/>
        </p:nvCxnSpPr>
        <p:spPr>
          <a:xfrm flipV="1">
            <a:off x="1331640" y="404664"/>
            <a:ext cx="288032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9948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:\docencia_investigacion\Git_repos\REPOS_R\R_practicas_inferencia\images\iaas_web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188640"/>
            <a:ext cx="8195217" cy="638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1 CuadroTexto"/>
          <p:cNvSpPr txBox="1"/>
          <p:nvPr/>
        </p:nvSpPr>
        <p:spPr>
          <a:xfrm>
            <a:off x="1702728" y="4633684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>
                <a:solidFill>
                  <a:srgbClr val="FF0000"/>
                </a:solidFill>
              </a:rPr>
              <a:t>aluXXXXXXXX</a:t>
            </a:r>
            <a:endParaRPr lang="es-ES" dirty="0">
              <a:solidFill>
                <a:srgbClr val="FF0000"/>
              </a:solidFill>
            </a:endParaRPr>
          </a:p>
        </p:txBody>
      </p:sp>
      <p:sp>
        <p:nvSpPr>
          <p:cNvPr id="4" name="3 CuadroTexto"/>
          <p:cNvSpPr txBox="1"/>
          <p:nvPr/>
        </p:nvSpPr>
        <p:spPr>
          <a:xfrm>
            <a:off x="1700038" y="5003884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***********</a:t>
            </a:r>
          </a:p>
        </p:txBody>
      </p:sp>
      <p:sp>
        <p:nvSpPr>
          <p:cNvPr id="5" name="4 Elipse"/>
          <p:cNvSpPr/>
          <p:nvPr/>
        </p:nvSpPr>
        <p:spPr>
          <a:xfrm>
            <a:off x="1115616" y="204323"/>
            <a:ext cx="1368152" cy="2520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6" name="5 Conector recto de flecha"/>
          <p:cNvCxnSpPr/>
          <p:nvPr/>
        </p:nvCxnSpPr>
        <p:spPr>
          <a:xfrm flipV="1">
            <a:off x="1403648" y="548680"/>
            <a:ext cx="288032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6 CuadroTexto"/>
          <p:cNvSpPr txBox="1"/>
          <p:nvPr/>
        </p:nvSpPr>
        <p:spPr>
          <a:xfrm>
            <a:off x="395537" y="1674674"/>
            <a:ext cx="3816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Acceder a </a:t>
            </a:r>
            <a:r>
              <a:rPr lang="es-ES" dirty="0">
                <a:solidFill>
                  <a:srgbClr val="FFFF00"/>
                </a:solidFill>
              </a:rPr>
              <a:t>http://iaas.ull.es </a:t>
            </a:r>
            <a:r>
              <a:rPr lang="es-ES" dirty="0">
                <a:solidFill>
                  <a:srgbClr val="FF0000"/>
                </a:solidFill>
              </a:rPr>
              <a:t>y autentificarse también en esta pantalla.</a:t>
            </a:r>
          </a:p>
        </p:txBody>
      </p:sp>
      <p:cxnSp>
        <p:nvCxnSpPr>
          <p:cNvPr id="8" name="7 Conector recto de flecha"/>
          <p:cNvCxnSpPr/>
          <p:nvPr/>
        </p:nvCxnSpPr>
        <p:spPr>
          <a:xfrm>
            <a:off x="1403648" y="2598004"/>
            <a:ext cx="372406" cy="20356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1849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:\docencia_investigacion\Git_repos\REPOS_R\R_practicas_inferencia\images\virt_machin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548680"/>
            <a:ext cx="8496944" cy="597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1 CuadroTexto"/>
          <p:cNvSpPr txBox="1"/>
          <p:nvPr/>
        </p:nvSpPr>
        <p:spPr>
          <a:xfrm>
            <a:off x="3131841" y="3284984"/>
            <a:ext cx="3816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Hacer click en “Ejecutar” y </a:t>
            </a:r>
          </a:p>
          <a:p>
            <a:r>
              <a:rPr lang="es-ES" dirty="0">
                <a:solidFill>
                  <a:srgbClr val="FF0000"/>
                </a:solidFill>
              </a:rPr>
              <a:t>la máquina virtual comenzará a cargar</a:t>
            </a:r>
          </a:p>
          <a:p>
            <a:r>
              <a:rPr lang="es-ES" dirty="0">
                <a:solidFill>
                  <a:srgbClr val="FF0000"/>
                </a:solidFill>
              </a:rPr>
              <a:t>PACIENCIA tarda un rato</a:t>
            </a:r>
          </a:p>
        </p:txBody>
      </p:sp>
      <p:cxnSp>
        <p:nvCxnSpPr>
          <p:cNvPr id="4" name="3 Conector recto de flecha"/>
          <p:cNvCxnSpPr/>
          <p:nvPr/>
        </p:nvCxnSpPr>
        <p:spPr>
          <a:xfrm flipH="1">
            <a:off x="1763688" y="3533824"/>
            <a:ext cx="1368153" cy="183939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6 Conector recto de flecha"/>
          <p:cNvCxnSpPr/>
          <p:nvPr/>
        </p:nvCxnSpPr>
        <p:spPr>
          <a:xfrm flipH="1" flipV="1">
            <a:off x="5940152" y="2031230"/>
            <a:ext cx="576064" cy="161379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9 Rectángulo"/>
          <p:cNvSpPr/>
          <p:nvPr/>
        </p:nvSpPr>
        <p:spPr>
          <a:xfrm>
            <a:off x="2051720" y="950248"/>
            <a:ext cx="1224136" cy="1440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9043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E:\docencia_investigacion\Git_repos\REPOS_R\R_practicas_inferencia\images\virt_machine_starte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620689"/>
            <a:ext cx="8784976" cy="5688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2 CuadroTexto"/>
          <p:cNvSpPr txBox="1"/>
          <p:nvPr/>
        </p:nvSpPr>
        <p:spPr>
          <a:xfrm>
            <a:off x="467544" y="4437112"/>
            <a:ext cx="28083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Esta es la dirección IP de la máquina. </a:t>
            </a:r>
          </a:p>
          <a:p>
            <a:pPr algn="just"/>
            <a:r>
              <a:rPr lang="es-ES" dirty="0">
                <a:solidFill>
                  <a:srgbClr val="FF0000"/>
                </a:solidFill>
              </a:rPr>
              <a:t>A cada alumno le sale su propia IP (la que sale en este gráfico es ficticia) así que hay que anotarla para utilizarla más adelante.</a:t>
            </a:r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2843808" y="3433638"/>
            <a:ext cx="1728192" cy="10034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5 CuadroTexto"/>
          <p:cNvSpPr txBox="1"/>
          <p:nvPr/>
        </p:nvSpPr>
        <p:spPr>
          <a:xfrm>
            <a:off x="4644008" y="3068960"/>
            <a:ext cx="14109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" dirty="0"/>
              <a:t>10.6.128.255</a:t>
            </a:r>
          </a:p>
        </p:txBody>
      </p:sp>
      <p:sp>
        <p:nvSpPr>
          <p:cNvPr id="2" name="1 Elipse"/>
          <p:cNvSpPr/>
          <p:nvPr/>
        </p:nvSpPr>
        <p:spPr>
          <a:xfrm>
            <a:off x="4572000" y="3038480"/>
            <a:ext cx="1482972" cy="4320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9325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E:\docencia_investigacion\Git_repos\REPOS_R\R_practicas_inferencia\images\rstudio_logi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790" y="465161"/>
            <a:ext cx="8717698" cy="512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2 CuadroTexto"/>
          <p:cNvSpPr txBox="1"/>
          <p:nvPr/>
        </p:nvSpPr>
        <p:spPr>
          <a:xfrm>
            <a:off x="251520" y="2128788"/>
            <a:ext cx="280831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Introducir en la barra de direcciones del navegador la dirección IP que cada uno obtiene del paso anterior seguida de :8087 (puedes añadirla a Mis Favoritos)</a:t>
            </a:r>
          </a:p>
        </p:txBody>
      </p:sp>
      <p:cxnSp>
        <p:nvCxnSpPr>
          <p:cNvPr id="4" name="3 Conector recto de flecha"/>
          <p:cNvCxnSpPr/>
          <p:nvPr/>
        </p:nvCxnSpPr>
        <p:spPr>
          <a:xfrm flipV="1">
            <a:off x="1403648" y="908720"/>
            <a:ext cx="337760" cy="122413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6 CuadroTexto"/>
          <p:cNvSpPr txBox="1"/>
          <p:nvPr/>
        </p:nvSpPr>
        <p:spPr>
          <a:xfrm>
            <a:off x="1350931" y="472614"/>
            <a:ext cx="1266693" cy="2616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100" b="1" dirty="0"/>
              <a:t>10.6.128.255:8087</a:t>
            </a:r>
          </a:p>
        </p:txBody>
      </p:sp>
      <p:sp>
        <p:nvSpPr>
          <p:cNvPr id="5" name="4 Elipse"/>
          <p:cNvSpPr/>
          <p:nvPr/>
        </p:nvSpPr>
        <p:spPr>
          <a:xfrm>
            <a:off x="1099732" y="353864"/>
            <a:ext cx="1589899" cy="4523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7 Conector recto de flecha"/>
          <p:cNvCxnSpPr/>
          <p:nvPr/>
        </p:nvCxnSpPr>
        <p:spPr>
          <a:xfrm flipV="1">
            <a:off x="2195736" y="3027202"/>
            <a:ext cx="3744416" cy="169794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8 CuadroTexto"/>
          <p:cNvSpPr txBox="1"/>
          <p:nvPr/>
        </p:nvSpPr>
        <p:spPr>
          <a:xfrm>
            <a:off x="5908890" y="2852936"/>
            <a:ext cx="6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infer</a:t>
            </a:r>
          </a:p>
        </p:txBody>
      </p:sp>
      <p:sp>
        <p:nvSpPr>
          <p:cNvPr id="12" name="11 CuadroTexto"/>
          <p:cNvSpPr txBox="1"/>
          <p:nvPr/>
        </p:nvSpPr>
        <p:spPr>
          <a:xfrm>
            <a:off x="5908784" y="3307060"/>
            <a:ext cx="1086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infer2025</a:t>
            </a:r>
          </a:p>
        </p:txBody>
      </p:sp>
      <p:sp>
        <p:nvSpPr>
          <p:cNvPr id="13" name="12 CuadroTexto"/>
          <p:cNvSpPr txBox="1"/>
          <p:nvPr/>
        </p:nvSpPr>
        <p:spPr>
          <a:xfrm>
            <a:off x="251520" y="4122946"/>
            <a:ext cx="47525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Para acceder a la aplicación Rstudio se utiliza el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0000"/>
                </a:solidFill>
              </a:rPr>
              <a:t>username: infer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0000"/>
                </a:solidFill>
              </a:rPr>
              <a:t>password: infer2025</a:t>
            </a:r>
          </a:p>
          <a:p>
            <a:pPr algn="just"/>
            <a:endParaRPr lang="es-ES" dirty="0">
              <a:solidFill>
                <a:srgbClr val="FF0000"/>
              </a:solidFill>
            </a:endParaRPr>
          </a:p>
          <a:p>
            <a:pPr algn="just"/>
            <a:r>
              <a:rPr lang="es-ES" dirty="0">
                <a:solidFill>
                  <a:srgbClr val="FF0000"/>
                </a:solidFill>
              </a:rPr>
              <a:t>Este password se puede cambiar siguiendo las instrucciones que aparecen en la web</a:t>
            </a:r>
          </a:p>
        </p:txBody>
      </p:sp>
    </p:spTree>
    <p:extLst>
      <p:ext uri="{BB962C8B-B14F-4D97-AF65-F5344CB8AC3E}">
        <p14:creationId xmlns:p14="http://schemas.microsoft.com/office/powerpoint/2010/main" val="1235298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E:\docencia_investigacion\Git_repos\REPOS_R\R_practicas_inferencia\images\rstudi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271739"/>
            <a:ext cx="8806316" cy="6037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2 CuadroTexto"/>
          <p:cNvSpPr txBox="1"/>
          <p:nvPr/>
        </p:nvSpPr>
        <p:spPr>
          <a:xfrm>
            <a:off x="1573171" y="544622"/>
            <a:ext cx="1266693" cy="2616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s-ES" sz="1100" b="1" dirty="0"/>
              <a:t>10.6.128.255:8087</a:t>
            </a:r>
          </a:p>
        </p:txBody>
      </p:sp>
      <p:sp>
        <p:nvSpPr>
          <p:cNvPr id="4" name="3 CuadroTexto"/>
          <p:cNvSpPr txBox="1"/>
          <p:nvPr/>
        </p:nvSpPr>
        <p:spPr>
          <a:xfrm>
            <a:off x="899593" y="2383720"/>
            <a:ext cx="38164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Este es el entorno de Rstudio en la nube que podrás utilizar durante el curso en esta asignatura.</a:t>
            </a:r>
          </a:p>
          <a:p>
            <a:r>
              <a:rPr lang="es-ES" dirty="0">
                <a:solidFill>
                  <a:srgbClr val="FF0000"/>
                </a:solidFill>
              </a:rPr>
              <a:t>Cuando acabes la práctica puedes cerrar las pestañas del navegador.</a:t>
            </a:r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3611646" y="476672"/>
            <a:ext cx="1536418" cy="18427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6 Conector recto de flecha"/>
          <p:cNvCxnSpPr/>
          <p:nvPr/>
        </p:nvCxnSpPr>
        <p:spPr>
          <a:xfrm flipV="1">
            <a:off x="2987824" y="544622"/>
            <a:ext cx="432048" cy="17322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8 Conector recto de flecha"/>
          <p:cNvCxnSpPr/>
          <p:nvPr/>
        </p:nvCxnSpPr>
        <p:spPr>
          <a:xfrm flipH="1" flipV="1">
            <a:off x="1691681" y="476672"/>
            <a:ext cx="792087" cy="1800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4 Conector recto de flecha">
            <a:extLst>
              <a:ext uri="{FF2B5EF4-FFF2-40B4-BE49-F238E27FC236}">
                <a16:creationId xmlns:a16="http://schemas.microsoft.com/office/drawing/2014/main" id="{F8CD71FA-781A-9625-BF2F-B49182D02455}"/>
              </a:ext>
            </a:extLst>
          </p:cNvPr>
          <p:cNvCxnSpPr>
            <a:cxnSpLocks/>
          </p:cNvCxnSpPr>
          <p:nvPr/>
        </p:nvCxnSpPr>
        <p:spPr>
          <a:xfrm flipV="1">
            <a:off x="5580112" y="4599379"/>
            <a:ext cx="304263" cy="41379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ángulo 5">
            <a:extLst>
              <a:ext uri="{FF2B5EF4-FFF2-40B4-BE49-F238E27FC236}">
                <a16:creationId xmlns:a16="http://schemas.microsoft.com/office/drawing/2014/main" id="{39775DB3-8A05-CFC2-556C-7E4AF95683D8}"/>
              </a:ext>
            </a:extLst>
          </p:cNvPr>
          <p:cNvSpPr/>
          <p:nvPr/>
        </p:nvSpPr>
        <p:spPr>
          <a:xfrm>
            <a:off x="4932040" y="3804490"/>
            <a:ext cx="1944216" cy="734079"/>
          </a:xfrm>
          <a:prstGeom prst="rect">
            <a:avLst/>
          </a:prstGeom>
          <a:solidFill>
            <a:schemeClr val="accent1">
              <a:alpha val="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3 CuadroTexto">
            <a:extLst>
              <a:ext uri="{FF2B5EF4-FFF2-40B4-BE49-F238E27FC236}">
                <a16:creationId xmlns:a16="http://schemas.microsoft.com/office/drawing/2014/main" id="{21D05C51-C6AE-DEEA-AC66-9BB899968689}"/>
              </a:ext>
            </a:extLst>
          </p:cNvPr>
          <p:cNvSpPr txBox="1"/>
          <p:nvPr/>
        </p:nvSpPr>
        <p:spPr>
          <a:xfrm>
            <a:off x="4932040" y="4972519"/>
            <a:ext cx="38164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IMPORTANTE: No eliminen ni muevan de carpeta estos archivos ya que gracias a ellos se puede conseguir la sincronización del material docente de las prácticas.</a:t>
            </a:r>
          </a:p>
        </p:txBody>
      </p:sp>
    </p:spTree>
    <p:extLst>
      <p:ext uri="{BB962C8B-B14F-4D97-AF65-F5344CB8AC3E}">
        <p14:creationId xmlns:p14="http://schemas.microsoft.com/office/powerpoint/2010/main" val="1301546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E:\docencia_investigacion\Git_repos\REPOS_R\R_practicas_inferencia\images\virt_machine_starte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620689"/>
            <a:ext cx="8784976" cy="5688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2 CuadroTexto"/>
          <p:cNvSpPr txBox="1"/>
          <p:nvPr/>
        </p:nvSpPr>
        <p:spPr>
          <a:xfrm>
            <a:off x="35496" y="3789040"/>
            <a:ext cx="302433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rgbClr val="FF0000"/>
                </a:solidFill>
              </a:rPr>
              <a:t>Al finalizar la práctica se recomienda apagar la máquina virtual para evitar saturar este servicio que usan otros alumnos de la universidad.</a:t>
            </a:r>
          </a:p>
          <a:p>
            <a:pPr algn="just"/>
            <a:r>
              <a:rPr lang="es-ES" dirty="0">
                <a:solidFill>
                  <a:srgbClr val="FF0000"/>
                </a:solidFill>
              </a:rPr>
              <a:t>La próxima vez que necesitemos utilizar la máquina repetimos los pasos que hemos seguido aquí.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4644008" y="3192193"/>
            <a:ext cx="1007007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" sz="1200" dirty="0"/>
              <a:t>10.6.128.255</a:t>
            </a:r>
          </a:p>
        </p:txBody>
      </p:sp>
      <p:sp>
        <p:nvSpPr>
          <p:cNvPr id="2" name="1 Elipse"/>
          <p:cNvSpPr/>
          <p:nvPr/>
        </p:nvSpPr>
        <p:spPr>
          <a:xfrm>
            <a:off x="6804248" y="1556792"/>
            <a:ext cx="648072" cy="4320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" name="4 Conector recto de flecha"/>
          <p:cNvCxnSpPr/>
          <p:nvPr/>
        </p:nvCxnSpPr>
        <p:spPr>
          <a:xfrm flipV="1">
            <a:off x="2627784" y="1916832"/>
            <a:ext cx="4176464" cy="1872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5691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532</Words>
  <Application>Microsoft Office PowerPoint</Application>
  <PresentationFormat>Presentación en pantalla (4:3)</PresentationFormat>
  <Paragraphs>43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</dc:creator>
  <cp:lastModifiedBy>Carlos Javier Pérez González</cp:lastModifiedBy>
  <cp:revision>22</cp:revision>
  <dcterms:created xsi:type="dcterms:W3CDTF">2020-07-23T13:50:07Z</dcterms:created>
  <dcterms:modified xsi:type="dcterms:W3CDTF">2025-09-08T16:35:04Z</dcterms:modified>
</cp:coreProperties>
</file>